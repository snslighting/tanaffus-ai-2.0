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9a8b14447a4fcb" /><Relationship Type="http://schemas.openxmlformats.org/officeDocument/2006/relationships/extended-properties" Target="/docProps/app.xml" Id="R29dab19b56b54bc9" /><Relationship Type="http://schemas.openxmlformats.org/officeDocument/2006/relationships/officeDocument" Target="/ppt/presentation.xml" Id="R7f06b63546304eaa" /></Relationships>
</file>

<file path=ppt/presentation.xml><?xml version="1.0" encoding="utf-8"?>
<p:presentation xmlns:p="http://schemas.openxmlformats.org/presentationml/2006/main">
  <p:sldMasterIdLst>
    <p:sldMasterId xmlns:r="http://schemas.openxmlformats.org/officeDocument/2006/relationships" id="2147483648" r:id="Re6eef1cff1ca44f0"/>
  </p:sldMasterIdLst>
  <p:notesMasterIdLst>
    <p:notesMasterId xmlns:r="http://schemas.openxmlformats.org/officeDocument/2006/relationships" r:id="Rb61656fd83b84671"/>
  </p:notesMasterIdLst>
  <p:sldIdLst>
    <p:sldId xmlns:r="http://schemas.openxmlformats.org/officeDocument/2006/relationships" id="256" r:id="R71e30af317d54302"/>
    <p:sldId xmlns:r="http://schemas.openxmlformats.org/officeDocument/2006/relationships" id="257" r:id="R1e8ad982d1a64403"/>
    <p:sldId xmlns:r="http://schemas.openxmlformats.org/officeDocument/2006/relationships" id="258" r:id="Ra28294cd4ff641c7"/>
    <p:sldId xmlns:r="http://schemas.openxmlformats.org/officeDocument/2006/relationships" id="259" r:id="Rb722b3ec3601420e"/>
    <p:sldId xmlns:r="http://schemas.openxmlformats.org/officeDocument/2006/relationships" id="260" r:id="R29ab269da6444dcc"/>
    <p:sldId xmlns:r="http://schemas.openxmlformats.org/officeDocument/2006/relationships" id="261" r:id="R76223018ac9142ba"/>
    <p:sldId xmlns:r="http://schemas.openxmlformats.org/officeDocument/2006/relationships" id="262" r:id="R3b9fc83941a549a0"/>
    <p:sldId xmlns:r="http://schemas.openxmlformats.org/officeDocument/2006/relationships" id="263" r:id="Re421e6fde199486f"/>
    <p:sldId xmlns:r="http://schemas.openxmlformats.org/officeDocument/2006/relationships" id="264" r:id="R0879905073ba4bc1"/>
    <p:sldId xmlns:r="http://schemas.openxmlformats.org/officeDocument/2006/relationships" id="265" r:id="R7ab86923f8264db6"/>
    <p:sldId xmlns:r="http://schemas.openxmlformats.org/officeDocument/2006/relationships" id="266" r:id="Rf769b3c594ec4d7c"/>
    <p:sldId xmlns:r="http://schemas.openxmlformats.org/officeDocument/2006/relationships" id="267" r:id="R56ba093a9bc64411"/>
    <p:sldId xmlns:r="http://schemas.openxmlformats.org/officeDocument/2006/relationships" id="268" r:id="R765a9a4a4c784f1d"/>
    <p:sldId xmlns:r="http://schemas.openxmlformats.org/officeDocument/2006/relationships" id="269" r:id="R601e2166cb554b6f"/>
    <p:sldId xmlns:r="http://schemas.openxmlformats.org/officeDocument/2006/relationships" id="270" r:id="Rfe8298be262b49a2"/>
    <p:sldId xmlns:r="http://schemas.openxmlformats.org/officeDocument/2006/relationships" id="271" r:id="Rf3c9d984e05747b1"/>
    <p:sldId xmlns:r="http://schemas.openxmlformats.org/officeDocument/2006/relationships" id="272" r:id="Rfcc69310974041ef"/>
    <p:sldId xmlns:r="http://schemas.openxmlformats.org/officeDocument/2006/relationships" id="273" r:id="R37ca0acfcdd94a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43fa7dbbb14b1a" /><Relationship Type="http://schemas.openxmlformats.org/officeDocument/2006/relationships/slideMaster" Target="/ppt/slideMasters/slideMaster1.xml" Id="Re6eef1cff1ca44f0" /><Relationship Type="http://schemas.openxmlformats.org/officeDocument/2006/relationships/notesMaster" Target="/ppt/notesMasters/notesMaster1.xml" Id="Rb61656fd83b84671" /><Relationship Type="http://schemas.openxmlformats.org/officeDocument/2006/relationships/presProps" Target="/ppt/presProps.xml" Id="Ra445162a400a4cd3" /><Relationship Type="http://schemas.openxmlformats.org/officeDocument/2006/relationships/tableStyles" Target="/ppt/tableStyles.xml" Id="R8b2a49b770324c84" /><Relationship Type="http://schemas.openxmlformats.org/officeDocument/2006/relationships/slide" Target="/ppt/slides/slide1.xml" Id="R71e30af317d54302" /><Relationship Type="http://schemas.openxmlformats.org/officeDocument/2006/relationships/slide" Target="/ppt/slides/slide2.xml" Id="R1e8ad982d1a64403" /><Relationship Type="http://schemas.openxmlformats.org/officeDocument/2006/relationships/slide" Target="/ppt/slides/slide3.xml" Id="Ra28294cd4ff641c7" /><Relationship Type="http://schemas.openxmlformats.org/officeDocument/2006/relationships/slide" Target="/ppt/slides/slide4.xml" Id="Rb722b3ec3601420e" /><Relationship Type="http://schemas.openxmlformats.org/officeDocument/2006/relationships/slide" Target="/ppt/slides/slide5.xml" Id="R29ab269da6444dcc" /><Relationship Type="http://schemas.openxmlformats.org/officeDocument/2006/relationships/slide" Target="/ppt/slides/slide6.xml" Id="R76223018ac9142ba" /><Relationship Type="http://schemas.openxmlformats.org/officeDocument/2006/relationships/slide" Target="/ppt/slides/slide7.xml" Id="R3b9fc83941a549a0" /><Relationship Type="http://schemas.openxmlformats.org/officeDocument/2006/relationships/slide" Target="/ppt/slides/slide8.xml" Id="Re421e6fde199486f" /><Relationship Type="http://schemas.openxmlformats.org/officeDocument/2006/relationships/slide" Target="/ppt/slides/slide9.xml" Id="R0879905073ba4bc1" /><Relationship Type="http://schemas.openxmlformats.org/officeDocument/2006/relationships/slide" Target="/ppt/slides/slide10.xml" Id="R7ab86923f8264db6" /><Relationship Type="http://schemas.openxmlformats.org/officeDocument/2006/relationships/slide" Target="/ppt/slides/slide11.xml" Id="Rf769b3c594ec4d7c" /><Relationship Type="http://schemas.openxmlformats.org/officeDocument/2006/relationships/slide" Target="/ppt/slides/slide12.xml" Id="R56ba093a9bc64411" /><Relationship Type="http://schemas.openxmlformats.org/officeDocument/2006/relationships/slide" Target="/ppt/slides/slide13.xml" Id="R765a9a4a4c784f1d" /><Relationship Type="http://schemas.openxmlformats.org/officeDocument/2006/relationships/slide" Target="/ppt/slides/slide14.xml" Id="R601e2166cb554b6f" /><Relationship Type="http://schemas.openxmlformats.org/officeDocument/2006/relationships/slide" Target="/ppt/slides/slide15.xml" Id="Rfe8298be262b49a2" /><Relationship Type="http://schemas.openxmlformats.org/officeDocument/2006/relationships/slide" Target="/ppt/slides/slide16.xml" Id="Rf3c9d984e05747b1" /><Relationship Type="http://schemas.openxmlformats.org/officeDocument/2006/relationships/slide" Target="/ppt/slides/slide17.xml" Id="Rfcc69310974041ef" /><Relationship Type="http://schemas.openxmlformats.org/officeDocument/2006/relationships/slide" Target="/ppt/slides/slide18.xml" Id="R37ca0acfcdd9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97184a032a43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9efe6ac0a74a58" /><Relationship Type="http://schemas.openxmlformats.org/officeDocument/2006/relationships/notesMaster" Target="/ppt/notesMasters/notesMaster1.xml" Id="Rc3338bdf3bc643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98763b113e4628" /><Relationship Type="http://schemas.openxmlformats.org/officeDocument/2006/relationships/notesMaster" Target="/ppt/notesMasters/notesMaster1.xml" Id="R9653cff817f54e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f46cd632074cdf" /><Relationship Type="http://schemas.openxmlformats.org/officeDocument/2006/relationships/notesMaster" Target="/ppt/notesMasters/notesMaster1.xml" Id="R56d7c30575cf4f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70a4805ab4090" /><Relationship Type="http://schemas.openxmlformats.org/officeDocument/2006/relationships/notesMaster" Target="/ppt/notesMasters/notesMaster1.xml" Id="Re0028da1225844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5882aa8d0949c2" /><Relationship Type="http://schemas.openxmlformats.org/officeDocument/2006/relationships/notesMaster" Target="/ppt/notesMasters/notesMaster1.xml" Id="Rf103a6a3fcd54b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7dfd138b3346f1" /><Relationship Type="http://schemas.openxmlformats.org/officeDocument/2006/relationships/notesMaster" Target="/ppt/notesMasters/notesMaster1.xml" Id="R67e5bbf31c5a4f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f408feca894d5a" /><Relationship Type="http://schemas.openxmlformats.org/officeDocument/2006/relationships/notesMaster" Target="/ppt/notesMasters/notesMaster1.xml" Id="Rbb6640e356ec4c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26c3e03976408e" /><Relationship Type="http://schemas.openxmlformats.org/officeDocument/2006/relationships/notesMaster" Target="/ppt/notesMasters/notesMaster1.xml" Id="Re5edb9b44cb44e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49603cca6a4ce4" /><Relationship Type="http://schemas.openxmlformats.org/officeDocument/2006/relationships/notesMaster" Target="/ppt/notesMasters/notesMaster1.xml" Id="Rbb515278e88349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2b34e5d94c43ba" /><Relationship Type="http://schemas.openxmlformats.org/officeDocument/2006/relationships/notesMaster" Target="/ppt/notesMasters/notesMaster1.xml" Id="Re43e19a22d8647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a5e2aa93b44d8e" /><Relationship Type="http://schemas.openxmlformats.org/officeDocument/2006/relationships/notesMaster" Target="/ppt/notesMasters/notesMaster1.xml" Id="R4c8b41b70d044e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4dab22bdf448c9" /><Relationship Type="http://schemas.openxmlformats.org/officeDocument/2006/relationships/notesMaster" Target="/ppt/notesMasters/notesMaster1.xml" Id="Rb4e8db7b8f3644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8980e01cf64bac" /><Relationship Type="http://schemas.openxmlformats.org/officeDocument/2006/relationships/notesMaster" Target="/ppt/notesMasters/notesMaster1.xml" Id="R7ab4c6523ef944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595fc9779347aa" /><Relationship Type="http://schemas.openxmlformats.org/officeDocument/2006/relationships/notesMaster" Target="/ppt/notesMasters/notesMaster1.xml" Id="Rfb04d519fde042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27b51b9cbb4bbe" /><Relationship Type="http://schemas.openxmlformats.org/officeDocument/2006/relationships/notesMaster" Target="/ppt/notesMasters/notesMaster1.xml" Id="R982ed64527314a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218d6f50774fdf" /><Relationship Type="http://schemas.openxmlformats.org/officeDocument/2006/relationships/notesMaster" Target="/ppt/notesMasters/notesMaster1.xml" Id="R17fce896a92e4a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592bf2c0504df7" /><Relationship Type="http://schemas.openxmlformats.org/officeDocument/2006/relationships/notesMaster" Target="/ppt/notesMasters/notesMaster1.xml" Id="R5ef1051c82f940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ec2d6ab2b5420e" /><Relationship Type="http://schemas.openxmlformats.org/officeDocument/2006/relationships/notesMaster" Target="/ppt/notesMasters/notesMaster1.xml" Id="R3e7656c957fb46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Tanaffus means break. The prototype uses synthetic sample data and simulated analysis. We have no measured traction or production AI integration to claim.</a:t>
            </a:r>
          </a:p>
          <a:p xmlns:a="http://schemas.openxmlformats.org/drawingml/2006/main">
            <a:r>
              <a:t/>
            </a:r>
          </a:p>
          <a:p xmlns:a="http://schemas.openxmlformats.org/drawingml/2006/main">
            <a:r>
              <a:t>AICA &amp; AI Alliance · Case A · Working prototype and proposed business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comes from the supplied IT Case A criteria. Baseline and savings must be validated by observation, not by the speed of this simulated demo.</a:t>
            </a:r>
          </a:p>
          <a:p xmlns:a="http://schemas.openxmlformats.org/drawingml/2006/main">
            <a:r>
              <a:t/>
            </a:r>
          </a:p>
          <a:p xmlns:a="http://schemas.openxmlformats.org/drawingml/2006/main">
            <a:r>
              <a:t>Pilot hypothesis: one 28-paper assignment takes less teacher time with assisted review. This is not yet a measured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local prototype implements this journey using sample papers. No real OCR, AI grading, messaging or school sync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Statistics Committee, published 31 March 2026, pages 1–3. School counts are institutions, not teacher users. TAM price scenario: 11,118 × $1,080 = $12,007,440 annual revenue ceiling if every institution bought one 30-seat plan, an unrealistic upper bound rather than a forecast. SAM scenario: 551 × $1,080 = $595,080. Initial city segment: 145 × $1,080 = $156,600. National scaling requires curriculum, procurement and infrastructure validation.</a:t>
            </a:r>
          </a:p>
          <a:p xmlns:a="http://schemas.openxmlformats.org/drawingml/2006/main">
            <a:r>
              <a:t/>
            </a:r>
          </a:p>
          <a:p xmlns:a="http://schemas.openxmlformats.org/drawingml/2006/main">
            <a:r>
              <a:t>Official counts: start of academic year 2025/26. Non-state schools increased 21.1% year over year.</a:t>
            </a:r>
          </a:p>
          <a:p xmlns:a="http://schemas.openxmlformats.org/drawingml/2006/main">
            <a:r>
              <a:t/>
            </a:r>
          </a:p>
          <a:p xmlns:a="http://schemas.openxmlformats.org/drawingml/2006/main">
            <a:r>
              <a:t>https://stat.uz/img/news/general-secondary-education_p67901.pdf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product descriptions checked 27 September 2026. Avoid asserting feature exclusivity. Broader AI teaching tools make workflow quality, local evaluation and institutional trust more important than a generic AI claim.</a:t>
            </a:r>
          </a:p>
          <a:p xmlns:a="http://schemas.openxmlformats.org/drawingml/2006/main">
            <a:r>
              <a:t/>
            </a:r>
          </a:p>
          <a:p xmlns:a="http://schemas.openxmlformats.org/drawingml/2006/main">
            <a:r>
              <a:t>AI-assisted assessment is an established category. Differentiation is a hypothesis to test, not a claim that competitors lack every similar feature.</a:t>
            </a:r>
          </a:p>
          <a:p xmlns:a="http://schemas.openxmlformats.org/drawingml/2006/main">
            <a:r>
              <a:t/>
            </a:r>
          </a:p>
          <a:p xmlns:a="http://schemas.openxmlformats.org/drawingml/2006/main">
            <a:r>
              <a:t>https://www.gradescope.com/get_started</a:t>
            </a:r>
          </a:p>
          <a:p xmlns:a="http://schemas.openxmlformats.org/drawingml/2006/main">
            <a:r>
              <a:t/>
            </a:r>
          </a:p>
          <a:p xmlns:a="http://schemas.openxmlformats.org/drawingml/2006/main">
            <a:r>
              <a:t>https://www.magicschool.ai/magic-tools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Adoption plan: 20-minute onboarding, one assignment graded alongside the existing method, then a weekly feedback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npm run dev and open http://127.0.0.1:5173. Reset the demo in Settings if needed. The sample class uses 25 green, 2 yellow and 1 red paper. Confidence percentages are synthetic, not calibrated probabilities.</a:t>
            </a:r>
          </a:p>
          <a:p xmlns:a="http://schemas.openxmlformats.org/drawingml/2006/main">
            <a:r>
              <a:t/>
            </a:r>
          </a:p>
          <a:p xmlns:a="http://schemas.openxmlformats.org/drawingml/2006/main">
            <a:r>
              <a:t>Demonstration only. Time-saving illustration: 28 × (4 − 0.5) minutes = 98 minutes, excluding setup and exceptional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Time savings are labeled illustrative. Pending work and quick actions share the same application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Scores and feedback are editable. A manual-review paper cannot be approved until the teacher confirms their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Mistake Radar combines affected students, example answers, likely misconceptions and a short teaching response. The connection between reviewed evidence and the next lesson is the proposed differentiation. All patterns in this demo are synthetic.</a:t>
            </a:r>
          </a:p>
          <a:p xmlns:a="http://schemas.openxmlformats.org/drawingml/2006/main">
            <a:r>
              <a:t/>
            </a:r>
          </a:p>
          <a:p xmlns:a="http://schemas.openxmlformats.org/drawingml/2006/main">
            <a:r>
              <a:t>11 of 28 sample students show sign errors (39%, rounded). Teachers can open their work and prepare a five-minute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Pooling papers across teachers reduces unused quotas and makes school budgeting easier. Forecast assumes 30 activated seats per school, 50 papers per teacher per month, and 12 months of normalized consumption including reporting usage. Actual school seasonality must be measured. Test annual versus academic-year contracts. Full allowance yields $360 annual inference cost at $0.02 per paper; retries and multi-page papers need metering.</a:t>
            </a:r>
          </a:p>
          <a:p xmlns:a="http://schemas.openxmlformats.org/drawingml/2006/main">
            <a:r>
              <a:t/>
            </a:r>
          </a:p>
          <a:p xmlns:a="http://schemas.openxmlformats.org/drawingml/2006/main">
            <a:r>
              <a:t>All prices are hypotheses in USD equivalents, not local quotes. Forecast excludes overages and services; willingness to pay remains untested.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Planning assumption: two engineers plus part-time teaching, design and privacy support. Complex open-ended grading stays out of the first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first pilot is three schools; later cohorts bring the annual pilot total to fifteen. No relationships, contracts, letters of intent or customer validation have been secured in this task. Partnerships and integrations remain proposed.</a:t>
            </a:r>
          </a:p>
          <a:p xmlns:a="http://schemas.openxmlformats.org/drawingml/2006/main">
            <a:r>
              <a:t/>
            </a:r>
          </a:p>
          <a:p xmlns:a="http://schemas.openxmlformats.org/drawingml/2006/main">
            <a:r>
              <a:t>Illustrative Year 1 funnel: 100 qualified school contacts, 25 demos, 15 pilots, 10 paid schools. Conversion is a target,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paid schools approximate linear ramp: (0+10)/2=5, (10+50)/2=30, (50+150)/2=100. Revenue uses average schools, not year-end schools. Papers: 90,000; 540,000; 1,800,000 (average teachers × 50 × 12). AI costs: $1,800; $10,800; $36,000. Hosting/support: $1,200; $4,800; $12,000. Product team: $27,000; $38,000; $48,000. Sales: $4,000; $10,000; $16,000. Admin: $5,000; $6,000; $8,000. These are lean founder-led cash budgets, not market salary benchmarks. No taxes, FX effects, financing costs or capital expenditure are included. Salaries and implementation costs require local quotes. $82,800 × 1.2 = $99,360 with 20% contingency.</a:t>
            </a:r>
          </a:p>
          <a:p xmlns:a="http://schemas.openxmlformats.org/drawingml/2006/main">
            <a:r>
              <a:t/>
            </a:r>
          </a:p>
          <a:p xmlns:a="http://schemas.openxmlformats.org/drawingml/2006/main">
            <a:r>
              <a:t>Assumptions: $1,080 per school per year; 30 seats; $0.02 per paper. Three-year operating funding gap: $82,800, before contingency.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Year 3 steady economics: annual revenue/school $1,080 less $360 AI, $48 hosting/support = $672 contribution, a 62.2% contribution margin. $600 CAC / $56 monthly contribution ≈ 10.7-month payback, before fixed team cost. Year 2 gross new schools with 80% retention: 50 − 8 = 42. Year 3: 150 − 40 = 110. Sales-budget-only CAC is not fully loaded and is not presented as observed CAC. Retention targets do not imply achieved outcomes.</a:t>
            </a:r>
          </a:p>
          <a:p xmlns:a="http://schemas.openxmlformats.org/drawingml/2006/main">
            <a:r>
              <a:t/>
            </a:r>
          </a:p>
          <a:p xmlns:a="http://schemas.openxmlformats.org/drawingml/2006/main">
            <a:r>
              <a:t>All thresholds are proposed pilot targets. Teacher time and scoring agreement require measurement, including uncertainty and subgroup error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These are production requirements and proposed controls. The demo itself uses sample data and local browser 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Planning funding requirement: approximately $100,000 over three years including 20% contingency. Validate salaries, pricing and unit costs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External sources checked 27 September 2026. All business numbers, savings, targets and pricing are illustrative assumptions; no real traction is claimed.</a:t>
            </a:r>
          </a:p>
          <a:p xmlns:a="http://schemas.openxmlformats.org/drawingml/2006/main">
            <a:r>
              <a:t/>
            </a:r>
          </a:p>
          <a:p xmlns:a="http://schemas.openxmlformats.org/drawingml/2006/main">
            <a:r>
              <a:t>https://stat.uz/img/news/general-secondary-education_p67901.pdf</a:t>
            </a:r>
          </a:p>
          <a:p xmlns:a="http://schemas.openxmlformats.org/drawingml/2006/main">
            <a:r>
              <a:t/>
            </a:r>
          </a:p>
          <a:p xmlns:a="http://schemas.openxmlformats.org/drawingml/2006/main">
            <a:r>
              <a:t>https://www.gradescope.com/get_started</a:t>
            </a:r>
          </a:p>
          <a:p xmlns:a="http://schemas.openxmlformats.org/drawingml/2006/main">
            <a:r>
              <a:t/>
            </a:r>
          </a:p>
          <a:p xmlns:a="http://schemas.openxmlformats.org/drawingml/2006/main">
            <a:r>
              <a:t>https://www.magicschool.ai/magic-tools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394ae0297443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ba28d9a15f4c7a" /><Relationship Type="http://schemas.openxmlformats.org/officeDocument/2006/relationships/slideLayout" Target="/ppt/slideLayouts/slideLayout1.xml" Id="R22f001e2e75445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f001e2e75445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0c362caf244b4f" /><Relationship Type="http://schemas.openxmlformats.org/officeDocument/2006/relationships/notesSlide" Target="/ppt/notesSlides/notesSlide1.xml" Id="R5682797461aa41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37cdcb0b6c40f0" /><Relationship Type="http://schemas.openxmlformats.org/officeDocument/2006/relationships/notesSlide" Target="/ppt/notesSlides/notesSlide2.xml" Id="R70b799aba7394d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48431904dc4db5" /><Relationship Type="http://schemas.openxmlformats.org/officeDocument/2006/relationships/notesSlide" Target="/ppt/notesSlides/notesSlide3.xml" Id="R18d0a89093fc4b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d2a559c4ba4d5b" /><Relationship Type="http://schemas.openxmlformats.org/officeDocument/2006/relationships/notesSlide" Target="/ppt/notesSlides/notesSlide4.xml" Id="R5fda21e559fd4a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0d408cace742a8" /><Relationship Type="http://schemas.openxmlformats.org/officeDocument/2006/relationships/notesSlide" Target="/ppt/notesSlides/notesSlide5.xml" Id="R071af49305f549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2f03f2a2284555" /><Relationship Type="http://schemas.openxmlformats.org/officeDocument/2006/relationships/notesSlide" Target="/ppt/notesSlides/notesSlide6.xml" Id="R4874f462e75149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c6c4cc15b24a7d" /><Relationship Type="http://schemas.openxmlformats.org/officeDocument/2006/relationships/notesSlide" Target="/ppt/notesSlides/notesSlide7.xml" Id="R0a739ddd28e047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030ee9bb374256" /><Relationship Type="http://schemas.openxmlformats.org/officeDocument/2006/relationships/image" Target="/ppt/media/image.png" Id="Re8509f0ee4c84c30" /><Relationship Type="http://schemas.openxmlformats.org/officeDocument/2006/relationships/notesSlide" Target="/ppt/notesSlides/notesSlide8.xml" Id="R62049fbd2a8e4a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55217cb3174f65" /><Relationship Type="http://schemas.openxmlformats.org/officeDocument/2006/relationships/image" Target="/ppt/media/image2.png" Id="R85baa6e586d54722" /><Relationship Type="http://schemas.openxmlformats.org/officeDocument/2006/relationships/notesSlide" Target="/ppt/notesSlides/notesSlide9.xml" Id="R31c49da00da648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9d89e2e3484fe0" /><Relationship Type="http://schemas.openxmlformats.org/officeDocument/2006/relationships/image" Target="/ppt/media/image3.png" Id="Rb21dc0e9d75a4297" /><Relationship Type="http://schemas.openxmlformats.org/officeDocument/2006/relationships/notesSlide" Target="/ppt/notesSlides/notesSlide10.xml" Id="Rf9abff40432746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caee7affc74261" /><Relationship Type="http://schemas.openxmlformats.org/officeDocument/2006/relationships/notesSlide" Target="/ppt/notesSlides/notesSlide11.xml" Id="R408206923b7549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2c041709c3441a" /><Relationship Type="http://schemas.openxmlformats.org/officeDocument/2006/relationships/notesSlide" Target="/ppt/notesSlides/notesSlide12.xml" Id="R051fc65002d645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12605ed9784086" /><Relationship Type="http://schemas.openxmlformats.org/officeDocument/2006/relationships/notesSlide" Target="/ppt/notesSlides/notesSlide13.xml" Id="R7304b49316a144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4399a1c4ae14000" /><Relationship Type="http://schemas.openxmlformats.org/officeDocument/2006/relationships/notesSlide" Target="/ppt/notesSlides/notesSlide14.xml" Id="Re5602c84dca543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b53292c3254b4e" /><Relationship Type="http://schemas.openxmlformats.org/officeDocument/2006/relationships/notesSlide" Target="/ppt/notesSlides/notesSlide15.xml" Id="Ra28ee59395a948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85aa8fe61d46b2" /><Relationship Type="http://schemas.openxmlformats.org/officeDocument/2006/relationships/notesSlide" Target="/ppt/notesSlides/notesSlide16.xml" Id="Rba64f91818414b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16422d423e41d4" /><Relationship Type="http://schemas.openxmlformats.org/officeDocument/2006/relationships/notesSlide" Target="/ppt/notesSlides/notesSlide17.xml" Id="Rb62d38b6fba64c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9a30269d4ab46b2" /><Relationship Type="http://schemas.openxmlformats.org/officeDocument/2006/relationships/notesSlide" Target="/ppt/notesSlides/notesSlide18.xml" Id="R1a01a961354247ab" /></Relationships>
</file>

<file path=ppt/slides/slide1.xml><?xml version="1.0" encoding="utf-8"?>
<p:sld xmlns:p="http://schemas.openxmlformats.org/presentationml/2006/main">
  <p:cSld>
    <p:bg>
      <p:bgPr>
        <a:solidFill xmlns:a="http://schemas.openxmlformats.org/drawingml/2006/main">
          <a:srgbClr val="DEEF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763598-9A9B-4835-88C5-C6C8F9DD69CA}"/>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TANAFFUS · SMARTER TEACHER WORKFLOW</a:t>
            </a:r>
          </a:p>
        </p:txBody>
      </p:sp>
      <p:sp>
        <p:nvSpPr>
          <p:cNvPr id="2" name="">
            <a:extLst xmlns:a="http://schemas.openxmlformats.org/drawingml/2006/main">
              <a:ext uri="{FF2B5EF4-FFF2-40B4-BE49-F238E27FC236}">
                <a16:creationId xmlns:a16="http://schemas.microsoft.com/office/drawing/2014/main" id="{EDE65ABD-5DE9-471F-A510-EC4DD781887A}"/>
              </a:ext>
            </a:extLst>
          </p:cNvPr>
          <p:cNvSpPr>
            <a:spLocks xmlns:a="http://schemas.openxmlformats.org/drawingml/2006/main" noGrp="1"/>
          </p:cNvSpPr>
          <p:nvPr/>
        </p:nvSpPr>
        <p:spPr>
          <a:xfrm xmlns:a="http://schemas.openxmlformats.org/drawingml/2006/main">
            <a:off x="609600" y="1476375"/>
            <a:ext cx="10858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63B55"/>
                </a:solidFill>
                <a:latin typeface="Arial"/>
                <a:ea typeface="Arial"/>
                <a:cs typeface="Arial"/>
              </a:defRPr>
            </a:pPr>
            <a:r>
              <a:rPr sz="6000" b="1">
                <a:solidFill>
                  <a:srgbClr val="163B55"/>
                </a:solidFill>
                <a:latin typeface="Arial"/>
                <a:ea typeface="Arial"/>
                <a:cs typeface="Arial"/>
              </a:rPr>
              <a:t>Give teachers their time back.</a:t>
            </a:r>
          </a:p>
        </p:txBody>
      </p:sp>
      <p:sp>
        <p:nvSpPr>
          <p:cNvPr id="3" name="">
            <a:extLst xmlns:a="http://schemas.openxmlformats.org/drawingml/2006/main">
              <a:ext uri="{FF2B5EF4-FFF2-40B4-BE49-F238E27FC236}">
                <a16:creationId xmlns:a16="http://schemas.microsoft.com/office/drawing/2014/main" id="{01619533-9FF2-4A45-AE0A-70E6789416A7}"/>
              </a:ext>
            </a:extLst>
          </p:cNvPr>
          <p:cNvSpPr>
            <a:spLocks xmlns:a="http://schemas.openxmlformats.org/drawingml/2006/main" noGrp="1"/>
          </p:cNvSpPr>
          <p:nvPr/>
        </p:nvSpPr>
        <p:spPr>
          <a:xfrm xmlns:a="http://schemas.openxmlformats.org/drawingml/2006/main">
            <a:off x="647700" y="3943350"/>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4B7B9D"/>
                </a:solidFill>
                <a:latin typeface="Arial"/>
                <a:ea typeface="Arial"/>
                <a:cs typeface="Arial"/>
              </a:defRPr>
            </a:pPr>
            <a:r>
              <a:rPr sz="2400" b="0">
                <a:solidFill>
                  <a:srgbClr val="4B7B9D"/>
                </a:solidFill>
                <a:latin typeface="Arial"/>
                <a:ea typeface="Arial"/>
                <a:cs typeface="Arial"/>
              </a:rPr>
              <a:t>AI drafts. The teacher decides.</a:t>
            </a:r>
          </a:p>
        </p:txBody>
      </p:sp>
      <p:sp>
        <p:nvSpPr>
          <p:cNvPr id="4" name="">
            <a:extLst xmlns:a="http://schemas.openxmlformats.org/drawingml/2006/main">
              <a:ext uri="{FF2B5EF4-FFF2-40B4-BE49-F238E27FC236}">
                <a16:creationId xmlns:a16="http://schemas.microsoft.com/office/drawing/2014/main" id="{38EEFBE3-61B7-41D4-9743-26AE30B5E191}"/>
              </a:ext>
            </a:extLst>
          </p:cNvPr>
          <p:cNvSpPr>
            <a:spLocks xmlns:a="http://schemas.openxmlformats.org/drawingml/2006/main" noGrp="1"/>
          </p:cNvSpPr>
          <p:nvPr/>
        </p:nvSpPr>
        <p:spPr>
          <a:xfrm xmlns:a="http://schemas.openxmlformats.org/drawingml/2006/main">
            <a:off x="647700" y="54292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787CA"/>
                </a:solidFill>
                <a:latin typeface="Arial"/>
                <a:ea typeface="Arial"/>
                <a:cs typeface="Arial"/>
              </a:defRPr>
            </a:pPr>
            <a:r>
              <a:rPr sz="3000" b="1">
                <a:solidFill>
                  <a:srgbClr val="2787CA"/>
                </a:solidFill>
                <a:latin typeface="Arial"/>
                <a:ea typeface="Arial"/>
                <a:cs typeface="Arial"/>
              </a:rPr>
              <a:t>tanaffus.</a:t>
            </a:r>
          </a:p>
        </p:txBody>
      </p:sp>
      <p:sp>
        <p:nvSpPr>
          <p:cNvPr id="5" name="">
            <a:extLst xmlns:a="http://schemas.openxmlformats.org/drawingml/2006/main">
              <a:ext uri="{FF2B5EF4-FFF2-40B4-BE49-F238E27FC236}">
                <a16:creationId xmlns:a16="http://schemas.microsoft.com/office/drawing/2014/main" id="{03473E17-7E4C-42A9-9AE2-6BAE1C3001C8}"/>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AICA &amp; AI Alliance · Case A · Working prototype and proposed business model</a:t>
            </a:r>
          </a:p>
        </p:txBody>
      </p:sp>
      <p:sp>
        <p:nvSpPr>
          <p:cNvPr id="6" name="">
            <a:extLst xmlns:a="http://schemas.openxmlformats.org/drawingml/2006/main">
              <a:ext uri="{FF2B5EF4-FFF2-40B4-BE49-F238E27FC236}">
                <a16:creationId xmlns:a16="http://schemas.microsoft.com/office/drawing/2014/main" id="{A162F3CD-61B0-41A8-82C2-FF3206815278}"/>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01 / 18</a:t>
            </a:r>
          </a:p>
        </p:txBody>
      </p:sp>
    </p:spTree>
    <p:extLst>
      <p:ext uri="{BB962C8B-B14F-4D97-AF65-F5344CB8AC3E}">
        <p14:creationId xmlns:p14="http://schemas.microsoft.com/office/powerpoint/2010/main" val="912963062"/>
      </p:ext>
    </p:extLst>
  </p:cSld>
</p:sld>
</file>

<file path=ppt/slides/slide2.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6981AA-8D48-4A05-8C36-33D2142678A3}"/>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THE PROBLEM AND THE VALUE PROPOSITION</a:t>
            </a:r>
          </a:p>
        </p:txBody>
      </p:sp>
      <p:sp>
        <p:nvSpPr>
          <p:cNvPr id="2" name="">
            <a:extLst xmlns:a="http://schemas.openxmlformats.org/drawingml/2006/main">
              <a:ext uri="{FF2B5EF4-FFF2-40B4-BE49-F238E27FC236}">
                <a16:creationId xmlns:a16="http://schemas.microsoft.com/office/drawing/2014/main" id="{500F1035-D03D-4FAC-A4FA-23797E5CA26D}"/>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The work after the school day</a:t>
            </a:r>
          </a:p>
        </p:txBody>
      </p:sp>
      <p:sp>
        <p:nvSpPr>
          <p:cNvPr id="3" name="">
            <a:extLst xmlns:a="http://schemas.openxmlformats.org/drawingml/2006/main">
              <a:ext uri="{FF2B5EF4-FFF2-40B4-BE49-F238E27FC236}">
                <a16:creationId xmlns:a16="http://schemas.microsoft.com/office/drawing/2014/main" id="{831B919E-C528-4D16-A189-069344C26B4E}"/>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The repeated work</a:t>
            </a:r>
          </a:p>
        </p:txBody>
      </p:sp>
      <p:sp>
        <p:nvSpPr>
          <p:cNvPr id="4" name="">
            <a:extLst xmlns:a="http://schemas.openxmlformats.org/drawingml/2006/main">
              <a:ext uri="{FF2B5EF4-FFF2-40B4-BE49-F238E27FC236}">
                <a16:creationId xmlns:a16="http://schemas.microsoft.com/office/drawing/2014/main" id="{64F1C0E3-BA46-45D9-9433-09E03B6CE8E6}"/>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Checking answers, writing similar feedback, recording grades and assembling reports compete with lesson planning.</a:t>
            </a:r>
          </a:p>
        </p:txBody>
      </p:sp>
      <p:sp>
        <p:nvSpPr>
          <p:cNvPr id="5" name="">
            <a:extLst xmlns:a="http://schemas.openxmlformats.org/drawingml/2006/main">
              <a:ext uri="{FF2B5EF4-FFF2-40B4-BE49-F238E27FC236}">
                <a16:creationId xmlns:a16="http://schemas.microsoft.com/office/drawing/2014/main" id="{CF16295B-2D43-490C-A35D-5BE04DBF99AD}"/>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Our mission</a:t>
            </a:r>
          </a:p>
        </p:txBody>
      </p:sp>
      <p:sp>
        <p:nvSpPr>
          <p:cNvPr id="6" name="">
            <a:extLst xmlns:a="http://schemas.openxmlformats.org/drawingml/2006/main">
              <a:ext uri="{FF2B5EF4-FFF2-40B4-BE49-F238E27FC236}">
                <a16:creationId xmlns:a16="http://schemas.microsoft.com/office/drawing/2014/main" id="{79E74AA5-5D07-4D5B-8527-066C08F7155C}"/>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Reduce repetitive grading and administration while keeping the teacher responsible for every academic decision.</a:t>
            </a:r>
          </a:p>
        </p:txBody>
      </p:sp>
      <p:sp>
        <p:nvSpPr>
          <p:cNvPr id="7" name="">
            <a:extLst xmlns:a="http://schemas.openxmlformats.org/drawingml/2006/main">
              <a:ext uri="{FF2B5EF4-FFF2-40B4-BE49-F238E27FC236}">
                <a16:creationId xmlns:a16="http://schemas.microsoft.com/office/drawing/2014/main" id="{9C658F7E-F935-4024-9653-517D62C04B3A}"/>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Our vision</a:t>
            </a:r>
          </a:p>
        </p:txBody>
      </p:sp>
      <p:sp>
        <p:nvSpPr>
          <p:cNvPr id="8" name="">
            <a:extLst xmlns:a="http://schemas.openxmlformats.org/drawingml/2006/main">
              <a:ext uri="{FF2B5EF4-FFF2-40B4-BE49-F238E27FC236}">
                <a16:creationId xmlns:a16="http://schemas.microsoft.com/office/drawing/2014/main" id="{E84C1497-555C-49D1-BD9B-7AD6365B9005}"/>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Teachers spend more time responding to learning needs and less time transferring information between tools.</a:t>
            </a:r>
          </a:p>
        </p:txBody>
      </p:sp>
      <p:sp>
        <p:nvSpPr>
          <p:cNvPr id="9" name="">
            <a:extLst xmlns:a="http://schemas.openxmlformats.org/drawingml/2006/main">
              <a:ext uri="{FF2B5EF4-FFF2-40B4-BE49-F238E27FC236}">
                <a16:creationId xmlns:a16="http://schemas.microsoft.com/office/drawing/2014/main" id="{18947854-B9E4-4A16-95B6-A120AE50EA7E}"/>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Pilot hypothesis: one 28-paper assignment takes less teacher time with assisted review. This is not yet a measured result.</a:t>
            </a:r>
          </a:p>
        </p:txBody>
      </p:sp>
      <p:sp>
        <p:nvSpPr>
          <p:cNvPr id="10" name="">
            <a:extLst xmlns:a="http://schemas.openxmlformats.org/drawingml/2006/main">
              <a:ext uri="{FF2B5EF4-FFF2-40B4-BE49-F238E27FC236}">
                <a16:creationId xmlns:a16="http://schemas.microsoft.com/office/drawing/2014/main" id="{94B8E17D-991B-4114-9BD8-57D7EF417D4E}"/>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02 / 18</a:t>
            </a:r>
          </a:p>
        </p:txBody>
      </p:sp>
    </p:spTree>
    <p:extLst>
      <p:ext uri="{BB962C8B-B14F-4D97-AF65-F5344CB8AC3E}">
        <p14:creationId xmlns:p14="http://schemas.microsoft.com/office/powerpoint/2010/main" val="180687339"/>
      </p:ext>
    </p:extLst>
  </p:cSld>
</p:sld>
</file>

<file path=ppt/slides/slide3.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7D73C1-1CA0-4EAB-96CA-33C89A2FE262}"/>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1F2B7B18-AEDF-4B89-AFF9-6BDE2278AF5C}"/>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A complete teacher-controlled workflow</a:t>
            </a:r>
          </a:p>
        </p:txBody>
      </p:sp>
      <p:sp>
        <p:nvSpPr>
          <p:cNvPr id="3" name="">
            <a:extLst xmlns:a="http://schemas.openxmlformats.org/drawingml/2006/main">
              <a:ext uri="{FF2B5EF4-FFF2-40B4-BE49-F238E27FC236}">
                <a16:creationId xmlns:a16="http://schemas.microsoft.com/office/drawing/2014/main" id="{B945AD5D-9203-483B-837A-779781E015CD}"/>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Prepare and analyze</a:t>
            </a:r>
          </a:p>
        </p:txBody>
      </p:sp>
      <p:sp>
        <p:nvSpPr>
          <p:cNvPr id="4" name="">
            <a:extLst xmlns:a="http://schemas.openxmlformats.org/drawingml/2006/main">
              <a:ext uri="{FF2B5EF4-FFF2-40B4-BE49-F238E27FC236}">
                <a16:creationId xmlns:a16="http://schemas.microsoft.com/office/drawing/2014/main" id="{849DEE20-DA43-408B-8791-48D8A168360F}"/>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Choose a class, set the rubric, and upload student work. Analysis proposes scores with evidence and confidence.</a:t>
            </a:r>
          </a:p>
        </p:txBody>
      </p:sp>
      <p:sp>
        <p:nvSpPr>
          <p:cNvPr id="5" name="">
            <a:extLst xmlns:a="http://schemas.openxmlformats.org/drawingml/2006/main">
              <a:ext uri="{FF2B5EF4-FFF2-40B4-BE49-F238E27FC236}">
                <a16:creationId xmlns:a16="http://schemas.microsoft.com/office/drawing/2014/main" id="{DCEC2B25-55EB-42A6-A169-E5E8364168BA}"/>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Review and approve</a:t>
            </a:r>
          </a:p>
        </p:txBody>
      </p:sp>
      <p:sp>
        <p:nvSpPr>
          <p:cNvPr id="6" name="">
            <a:extLst xmlns:a="http://schemas.openxmlformats.org/drawingml/2006/main">
              <a:ext uri="{FF2B5EF4-FFF2-40B4-BE49-F238E27FC236}">
                <a16:creationId xmlns:a16="http://schemas.microsoft.com/office/drawing/2014/main" id="{9335E66B-D538-443A-A18F-215D3CE2EA2C}"/>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Trust Light separates routine papers from uncertain ones. Edit scores and feedback. Manually grade unclear work.</a:t>
            </a:r>
          </a:p>
        </p:txBody>
      </p:sp>
      <p:sp>
        <p:nvSpPr>
          <p:cNvPr id="7" name="">
            <a:extLst xmlns:a="http://schemas.openxmlformats.org/drawingml/2006/main">
              <a:ext uri="{FF2B5EF4-FFF2-40B4-BE49-F238E27FC236}">
                <a16:creationId xmlns:a16="http://schemas.microsoft.com/office/drawing/2014/main" id="{9CBA36B4-D23A-4756-A1A9-9E7E4F26F563}"/>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Report and teach</a:t>
            </a:r>
          </a:p>
        </p:txBody>
      </p:sp>
      <p:sp>
        <p:nvSpPr>
          <p:cNvPr id="8" name="">
            <a:extLst xmlns:a="http://schemas.openxmlformats.org/drawingml/2006/main">
              <a:ext uri="{FF2B5EF4-FFF2-40B4-BE49-F238E27FC236}">
                <a16:creationId xmlns:a16="http://schemas.microsoft.com/office/drawing/2014/main" id="{7A6558BE-33FC-4EFA-B454-6714382567B8}"/>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Export approved grades and feedback. Mistake Radar connects common errors to a short classroom activity.</a:t>
            </a:r>
          </a:p>
        </p:txBody>
      </p:sp>
      <p:sp>
        <p:nvSpPr>
          <p:cNvPr id="9" name="">
            <a:extLst xmlns:a="http://schemas.openxmlformats.org/drawingml/2006/main">
              <a:ext uri="{FF2B5EF4-FFF2-40B4-BE49-F238E27FC236}">
                <a16:creationId xmlns:a16="http://schemas.microsoft.com/office/drawing/2014/main" id="{59BDB1CD-B4A8-4C93-AF76-59C4312033A1}"/>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The local prototype implements this journey using sample papers. No real OCR, AI grading, messaging or school sync is connected.</a:t>
            </a:r>
          </a:p>
        </p:txBody>
      </p:sp>
      <p:sp>
        <p:nvSpPr>
          <p:cNvPr id="10" name="">
            <a:extLst xmlns:a="http://schemas.openxmlformats.org/drawingml/2006/main">
              <a:ext uri="{FF2B5EF4-FFF2-40B4-BE49-F238E27FC236}">
                <a16:creationId xmlns:a16="http://schemas.microsoft.com/office/drawing/2014/main" id="{8FD8885A-1EC2-44B6-9D4E-884F3B608372}"/>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03 / 18</a:t>
            </a:r>
          </a:p>
        </p:txBody>
      </p:sp>
    </p:spTree>
    <p:extLst>
      <p:ext uri="{BB962C8B-B14F-4D97-AF65-F5344CB8AC3E}">
        <p14:creationId xmlns:p14="http://schemas.microsoft.com/office/powerpoint/2010/main" val="1287659744"/>
      </p:ext>
    </p:extLst>
  </p:cSld>
</p:sld>
</file>

<file path=ppt/slides/slide4.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2C64A4-8292-431D-B84B-93EB670D7AAC}"/>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UZBEKISTAN SECONDARY SCHOOLS</a:t>
            </a:r>
          </a:p>
        </p:txBody>
      </p:sp>
      <p:sp>
        <p:nvSpPr>
          <p:cNvPr id="2" name="">
            <a:extLst xmlns:a="http://schemas.openxmlformats.org/drawingml/2006/main">
              <a:ext uri="{FF2B5EF4-FFF2-40B4-BE49-F238E27FC236}">
                <a16:creationId xmlns:a16="http://schemas.microsoft.com/office/drawing/2014/main" id="{36052744-F07E-435D-BF7C-331864B7B72C}"/>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An initial market we can reach</a:t>
            </a:r>
          </a:p>
        </p:txBody>
      </p:sp>
      <p:sp>
        <p:nvSpPr>
          <p:cNvPr id="3" name="">
            <a:extLst xmlns:a="http://schemas.openxmlformats.org/drawingml/2006/main">
              <a:ext uri="{FF2B5EF4-FFF2-40B4-BE49-F238E27FC236}">
                <a16:creationId xmlns:a16="http://schemas.microsoft.com/office/drawing/2014/main" id="{03A7ED3F-786F-4B75-B01E-B480258C26B8}"/>
              </a:ext>
            </a:extLst>
          </p:cNvPr>
          <p:cNvSpPr>
            <a:spLocks xmlns:a="http://schemas.openxmlformats.org/drawingml/2006/main" noGrp="1"/>
          </p:cNvSpPr>
          <p:nvPr/>
        </p:nvSpPr>
        <p:spPr>
          <a:xfrm xmlns:a="http://schemas.openxmlformats.org/drawingml/2006/main">
            <a:off x="609600" y="20669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308BCC"/>
                </a:solidFill>
                <a:latin typeface="Arial"/>
                <a:ea typeface="Arial"/>
                <a:cs typeface="Arial"/>
              </a:defRPr>
            </a:pPr>
            <a:r>
              <a:rPr sz="5100" b="0">
                <a:solidFill>
                  <a:srgbClr val="308BCC"/>
                </a:solidFill>
                <a:latin typeface="Arial"/>
                <a:ea typeface="Arial"/>
                <a:cs typeface="Arial"/>
              </a:rPr>
              <a:t>11,118</a:t>
            </a:r>
          </a:p>
        </p:txBody>
      </p:sp>
      <p:sp>
        <p:nvSpPr>
          <p:cNvPr id="4" name="">
            <a:extLst xmlns:a="http://schemas.openxmlformats.org/drawingml/2006/main">
              <a:ext uri="{FF2B5EF4-FFF2-40B4-BE49-F238E27FC236}">
                <a16:creationId xmlns:a16="http://schemas.microsoft.com/office/drawing/2014/main" id="{3EB704D9-A93E-4D8D-8294-244D324320B1}"/>
              </a:ext>
            </a:extLst>
          </p:cNvPr>
          <p:cNvSpPr>
            <a:spLocks xmlns:a="http://schemas.openxmlformats.org/drawingml/2006/main" noGrp="1"/>
          </p:cNvSpPr>
          <p:nvPr/>
        </p:nvSpPr>
        <p:spPr>
          <a:xfrm xmlns:a="http://schemas.openxmlformats.org/drawingml/2006/main">
            <a:off x="609600" y="29718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8297"/>
                </a:solidFill>
                <a:latin typeface="Arial"/>
                <a:ea typeface="Arial"/>
                <a:cs typeface="Arial"/>
              </a:defRPr>
            </a:pPr>
            <a:r>
              <a:rPr sz="1575" b="0">
                <a:solidFill>
                  <a:srgbClr val="668297"/>
                </a:solidFill>
                <a:latin typeface="Arial"/>
                <a:ea typeface="Arial"/>
                <a:cs typeface="Arial"/>
              </a:rPr>
              <a:t>general secondary schools</a:t>
            </a:r>
          </a:p>
        </p:txBody>
      </p:sp>
      <p:sp>
        <p:nvSpPr>
          <p:cNvPr id="5" name="">
            <a:extLst xmlns:a="http://schemas.openxmlformats.org/drawingml/2006/main">
              <a:ext uri="{FF2B5EF4-FFF2-40B4-BE49-F238E27FC236}">
                <a16:creationId xmlns:a16="http://schemas.microsoft.com/office/drawing/2014/main" id="{12710571-1241-4014-8815-7A13D8C69044}"/>
              </a:ext>
            </a:extLst>
          </p:cNvPr>
          <p:cNvSpPr>
            <a:spLocks xmlns:a="http://schemas.openxmlformats.org/drawingml/2006/main" noGrp="1"/>
          </p:cNvSpPr>
          <p:nvPr/>
        </p:nvSpPr>
        <p:spPr>
          <a:xfrm xmlns:a="http://schemas.openxmlformats.org/drawingml/2006/main">
            <a:off x="4305300" y="20669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308BCC"/>
                </a:solidFill>
                <a:latin typeface="Arial"/>
                <a:ea typeface="Arial"/>
                <a:cs typeface="Arial"/>
              </a:defRPr>
            </a:pPr>
            <a:r>
              <a:rPr sz="5100" b="0">
                <a:solidFill>
                  <a:srgbClr val="308BCC"/>
                </a:solidFill>
                <a:latin typeface="Arial"/>
                <a:ea typeface="Arial"/>
                <a:cs typeface="Arial"/>
              </a:rPr>
              <a:t>551</a:t>
            </a:r>
          </a:p>
        </p:txBody>
      </p:sp>
      <p:sp>
        <p:nvSpPr>
          <p:cNvPr id="6" name="">
            <a:extLst xmlns:a="http://schemas.openxmlformats.org/drawingml/2006/main">
              <a:ext uri="{FF2B5EF4-FFF2-40B4-BE49-F238E27FC236}">
                <a16:creationId xmlns:a16="http://schemas.microsoft.com/office/drawing/2014/main" id="{C57CC292-CDEB-4CE3-8FE4-68F69A919251}"/>
              </a:ext>
            </a:extLst>
          </p:cNvPr>
          <p:cNvSpPr>
            <a:spLocks xmlns:a="http://schemas.openxmlformats.org/drawingml/2006/main" noGrp="1"/>
          </p:cNvSpPr>
          <p:nvPr/>
        </p:nvSpPr>
        <p:spPr>
          <a:xfrm xmlns:a="http://schemas.openxmlformats.org/drawingml/2006/main">
            <a:off x="4305300" y="29718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8297"/>
                </a:solidFill>
                <a:latin typeface="Arial"/>
                <a:ea typeface="Arial"/>
                <a:cs typeface="Arial"/>
              </a:defRPr>
            </a:pPr>
            <a:r>
              <a:rPr sz="1575" b="0">
                <a:solidFill>
                  <a:srgbClr val="668297"/>
                </a:solidFill>
                <a:latin typeface="Arial"/>
                <a:ea typeface="Arial"/>
                <a:cs typeface="Arial"/>
              </a:rPr>
              <a:t>non-state schools</a:t>
            </a:r>
          </a:p>
        </p:txBody>
      </p:sp>
      <p:sp>
        <p:nvSpPr>
          <p:cNvPr id="7" name="">
            <a:extLst xmlns:a="http://schemas.openxmlformats.org/drawingml/2006/main">
              <a:ext uri="{FF2B5EF4-FFF2-40B4-BE49-F238E27FC236}">
                <a16:creationId xmlns:a16="http://schemas.microsoft.com/office/drawing/2014/main" id="{CDEA45B7-82CC-4F87-BB09-479E92F7634B}"/>
              </a:ext>
            </a:extLst>
          </p:cNvPr>
          <p:cNvSpPr>
            <a:spLocks xmlns:a="http://schemas.openxmlformats.org/drawingml/2006/main" noGrp="1"/>
          </p:cNvSpPr>
          <p:nvPr/>
        </p:nvSpPr>
        <p:spPr>
          <a:xfrm xmlns:a="http://schemas.openxmlformats.org/drawingml/2006/main">
            <a:off x="8001000" y="20669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308BCC"/>
                </a:solidFill>
                <a:latin typeface="Arial"/>
                <a:ea typeface="Arial"/>
                <a:cs typeface="Arial"/>
              </a:defRPr>
            </a:pPr>
            <a:r>
              <a:rPr sz="5100" b="0">
                <a:solidFill>
                  <a:srgbClr val="308BCC"/>
                </a:solidFill>
                <a:latin typeface="Arial"/>
                <a:ea typeface="Arial"/>
                <a:cs typeface="Arial"/>
              </a:rPr>
              <a:t>145</a:t>
            </a:r>
          </a:p>
        </p:txBody>
      </p:sp>
      <p:sp>
        <p:nvSpPr>
          <p:cNvPr id="8" name="">
            <a:extLst xmlns:a="http://schemas.openxmlformats.org/drawingml/2006/main">
              <a:ext uri="{FF2B5EF4-FFF2-40B4-BE49-F238E27FC236}">
                <a16:creationId xmlns:a16="http://schemas.microsoft.com/office/drawing/2014/main" id="{37AB2842-2725-4DEA-B44E-08AACCE32BF5}"/>
              </a:ext>
            </a:extLst>
          </p:cNvPr>
          <p:cNvSpPr>
            <a:spLocks xmlns:a="http://schemas.openxmlformats.org/drawingml/2006/main" noGrp="1"/>
          </p:cNvSpPr>
          <p:nvPr/>
        </p:nvSpPr>
        <p:spPr>
          <a:xfrm xmlns:a="http://schemas.openxmlformats.org/drawingml/2006/main">
            <a:off x="8001000" y="29718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8297"/>
                </a:solidFill>
                <a:latin typeface="Arial"/>
                <a:ea typeface="Arial"/>
                <a:cs typeface="Arial"/>
              </a:defRPr>
            </a:pPr>
            <a:r>
              <a:rPr sz="1575" b="0">
                <a:solidFill>
                  <a:srgbClr val="668297"/>
                </a:solidFill>
                <a:latin typeface="Arial"/>
                <a:ea typeface="Arial"/>
                <a:cs typeface="Arial"/>
              </a:rPr>
              <a:t>non-state schools in Tashkent city</a:t>
            </a:r>
          </a:p>
        </p:txBody>
      </p:sp>
      <p:sp>
        <p:nvSpPr>
          <p:cNvPr id="9" name="">
            <a:extLst xmlns:a="http://schemas.openxmlformats.org/drawingml/2006/main">
              <a:ext uri="{FF2B5EF4-FFF2-40B4-BE49-F238E27FC236}">
                <a16:creationId xmlns:a16="http://schemas.microsoft.com/office/drawing/2014/main" id="{C63F4B98-14DB-4DBB-B617-C3B00A85CA92}"/>
              </a:ext>
            </a:extLst>
          </p:cNvPr>
          <p:cNvSpPr>
            <a:spLocks xmlns:a="http://schemas.openxmlformats.org/drawingml/2006/main" noGrp="1"/>
          </p:cNvSpPr>
          <p:nvPr/>
        </p:nvSpPr>
        <p:spPr>
          <a:xfrm xmlns:a="http://schemas.openxmlformats.org/drawingml/2006/main">
            <a:off x="609600" y="38957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B7C92"/>
                </a:solidFill>
                <a:latin typeface="Arial"/>
                <a:ea typeface="Arial"/>
                <a:cs typeface="Arial"/>
              </a:defRPr>
            </a:pPr>
            <a:r>
              <a:rPr sz="1875" b="0">
                <a:solidFill>
                  <a:srgbClr val="5B7C92"/>
                </a:solidFill>
                <a:latin typeface="Arial"/>
                <a:ea typeface="Arial"/>
                <a:cs typeface="Arial"/>
              </a:rPr>
              <a:t>Start with mathematics departments in Tashkent’s non-state schools. Smaller pilots let us test handwriting accuracy, willingness to pay and teacher adoption before broader procurement.</a:t>
            </a:r>
          </a:p>
        </p:txBody>
      </p:sp>
      <p:sp>
        <p:nvSpPr>
          <p:cNvPr id="10" name="">
            <a:extLst xmlns:a="http://schemas.openxmlformats.org/drawingml/2006/main">
              <a:ext uri="{FF2B5EF4-FFF2-40B4-BE49-F238E27FC236}">
                <a16:creationId xmlns:a16="http://schemas.microsoft.com/office/drawing/2014/main" id="{D2F9C14F-2157-489A-890D-E03F885A8DE5}"/>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Official counts: start of academic year 2025/26. Non-state schools increased 21.1% year over year.</a:t>
            </a:r>
          </a:p>
        </p:txBody>
      </p:sp>
      <p:sp>
        <p:nvSpPr>
          <p:cNvPr id="11" name="">
            <a:extLst xmlns:a="http://schemas.openxmlformats.org/drawingml/2006/main">
              <a:ext uri="{FF2B5EF4-FFF2-40B4-BE49-F238E27FC236}">
                <a16:creationId xmlns:a16="http://schemas.microsoft.com/office/drawing/2014/main" id="{60AAF086-8468-4ED7-B9D1-7842404C29B5}"/>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04 / 18</a:t>
            </a:r>
          </a:p>
        </p:txBody>
      </p:sp>
    </p:spTree>
    <p:extLst>
      <p:ext uri="{BB962C8B-B14F-4D97-AF65-F5344CB8AC3E}">
        <p14:creationId xmlns:p14="http://schemas.microsoft.com/office/powerpoint/2010/main" val="346761893"/>
      </p:ext>
    </p:extLst>
  </p:cSld>
</p:sld>
</file>

<file path=ppt/slides/slide5.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40D262-4130-4AA7-924B-329862A5286A}"/>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MARKET TRENDS AND COMPETITIVE POSITIONING</a:t>
            </a:r>
          </a:p>
        </p:txBody>
      </p:sp>
      <p:sp>
        <p:nvSpPr>
          <p:cNvPr id="2" name="">
            <a:extLst xmlns:a="http://schemas.openxmlformats.org/drawingml/2006/main">
              <a:ext uri="{FF2B5EF4-FFF2-40B4-BE49-F238E27FC236}">
                <a16:creationId xmlns:a16="http://schemas.microsoft.com/office/drawing/2014/main" id="{6CB49B39-24AD-472D-B38C-258CF3021F9F}"/>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Existing tools validate the category</a:t>
            </a:r>
          </a:p>
        </p:txBody>
      </p:sp>
      <p:graphicFrame>
        <p:nvGraphicFramePr>
          <p:cNvPr id="8" name=""/>
          <p:cNvGraphicFramePr/>
          <p:nvPr/>
        </p:nvGraphicFramePr>
        <p:xfrm>
          <a:off xmlns:a="http://schemas.openxmlformats.org/drawingml/2006/main" x="609600" y="2047875"/>
          <a:ext xmlns:a="http://schemas.openxmlformats.org/drawingml/2006/main" cx="10877550" cy="3095625"/>
        </p:xfrm>
        <a:graphic xmlns:a="http://schemas.openxmlformats.org/drawingml/2006/main">
          <a:graphicData uri="http://schemas.openxmlformats.org/drawingml/2006/table">
            <a:tbl>
              <a:tblPr/>
              <a:tblGrid>
                <a:gridCol w="2238375"/>
                <a:gridCol w="3714750"/>
                <a:gridCol w="4924425"/>
              </a:tblGrid>
              <a:tr h="773906">
                <a:tc>
                  <a:txBody>
                    <a:bodyPr/>
                    <a:lstStyle/>
                    <a:p>
                      <a:r>
                        <a:rPr sz="1425" b="1">
                          <a:solidFill>
                            <a:srgbClr val="356482"/>
                          </a:solidFill>
                          <a:latin typeface="Arial"/>
                          <a:ea typeface="Arial"/>
                          <a:cs typeface="Arial"/>
                        </a:rPr>
                        <a:t>Alternative</a:t>
                      </a:r>
                    </a:p>
                  </a:txBody>
                  <a:tcPr marL="91440" marR="91440" marT="45720" marB="45720">
                    <a:solidFill>
                      <a:srgbClr val="DDEEF9"/>
                    </a:solidFill>
                  </a:tcPr>
                </a:tc>
                <a:tc>
                  <a:txBody>
                    <a:bodyPr/>
                    <a:lstStyle/>
                    <a:p>
                      <a:r>
                        <a:rPr sz="1425" b="1">
                          <a:solidFill>
                            <a:srgbClr val="356482"/>
                          </a:solidFill>
                          <a:latin typeface="Arial"/>
                          <a:ea typeface="Arial"/>
                          <a:cs typeface="Arial"/>
                        </a:rPr>
                        <a:t>Verified role</a:t>
                      </a:r>
                    </a:p>
                  </a:txBody>
                  <a:tcPr marL="91440" marR="91440" marT="45720" marB="45720">
                    <a:solidFill>
                      <a:srgbClr val="DDEEF9"/>
                    </a:solidFill>
                  </a:tcPr>
                </a:tc>
                <a:tc>
                  <a:txBody>
                    <a:bodyPr/>
                    <a:lstStyle/>
                    <a:p>
                      <a:r>
                        <a:rPr sz="1425" b="1">
                          <a:solidFill>
                            <a:srgbClr val="356482"/>
                          </a:solidFill>
                          <a:latin typeface="Arial"/>
                          <a:ea typeface="Arial"/>
                          <a:cs typeface="Arial"/>
                        </a:rPr>
                        <a:t>Tanaffus positioning hypothesis</a:t>
                      </a:r>
                    </a:p>
                  </a:txBody>
                  <a:tcPr marL="91440" marR="91440" marT="45720" marB="45720">
                    <a:solidFill>
                      <a:srgbClr val="DDEEF9"/>
                    </a:solidFill>
                  </a:tcPr>
                </a:tc>
              </a:tr>
              <a:tr h="773906">
                <a:tc>
                  <a:txBody>
                    <a:bodyPr/>
                    <a:lstStyle/>
                    <a:p>
                      <a:r>
                        <a:rPr sz="1425" b="0">
                          <a:solidFill>
                            <a:srgbClr val="627D90"/>
                          </a:solidFill>
                          <a:latin typeface="Arial"/>
                          <a:ea typeface="Arial"/>
                          <a:cs typeface="Arial"/>
                        </a:rPr>
                        <a:t>Gradescope</a:t>
                      </a:r>
                    </a:p>
                  </a:txBody>
                  <a:tcPr marL="91440" marR="91440" marT="45720" marB="45720">
                    <a:solidFill>
                      <a:srgbClr val="FFFFFF"/>
                    </a:solidFill>
                  </a:tcPr>
                </a:tc>
                <a:tc>
                  <a:txBody>
                    <a:bodyPr/>
                    <a:lstStyle/>
                    <a:p>
                      <a:r>
                        <a:rPr sz="1425" b="0">
                          <a:solidFill>
                            <a:srgbClr val="627D90"/>
                          </a:solidFill>
                          <a:latin typeface="Arial"/>
                          <a:ea typeface="Arial"/>
                          <a:cs typeface="Arial"/>
                        </a:rPr>
                        <a:t>Rubric workflows and AI-assisted answer grouping</a:t>
                      </a:r>
                    </a:p>
                  </a:txBody>
                  <a:tcPr marL="91440" marR="91440" marT="45720" marB="45720">
                    <a:solidFill>
                      <a:srgbClr val="FFFFFF"/>
                    </a:solidFill>
                  </a:tcPr>
                </a:tc>
                <a:tc>
                  <a:txBody>
                    <a:bodyPr/>
                    <a:lstStyle/>
                    <a:p>
                      <a:r>
                        <a:rPr sz="1425" b="0">
                          <a:solidFill>
                            <a:srgbClr val="627D90"/>
                          </a:solidFill>
                          <a:latin typeface="Arial"/>
                          <a:ea typeface="Arial"/>
                          <a:cs typeface="Arial"/>
                        </a:rPr>
                        <a:t>Teacher review organized by uncertainty; local mathematics pilot</a:t>
                      </a:r>
                    </a:p>
                  </a:txBody>
                  <a:tcPr marL="91440" marR="91440" marT="45720" marB="45720">
                    <a:solidFill>
                      <a:srgbClr val="FFFFFF"/>
                    </a:solidFill>
                  </a:tcPr>
                </a:tc>
              </a:tr>
              <a:tr h="773906">
                <a:tc>
                  <a:txBody>
                    <a:bodyPr/>
                    <a:lstStyle/>
                    <a:p>
                      <a:r>
                        <a:rPr sz="1425" b="0">
                          <a:solidFill>
                            <a:srgbClr val="627D90"/>
                          </a:solidFill>
                          <a:latin typeface="Arial"/>
                          <a:ea typeface="Arial"/>
                          <a:cs typeface="Arial"/>
                        </a:rPr>
                        <a:t>MagicSchool</a:t>
                      </a:r>
                    </a:p>
                  </a:txBody>
                  <a:tcPr marL="91440" marR="91440" marT="45720" marB="45720">
                    <a:solidFill>
                      <a:srgbClr val="F0F6FA"/>
                    </a:solidFill>
                  </a:tcPr>
                </a:tc>
                <a:tc>
                  <a:txBody>
                    <a:bodyPr/>
                    <a:lstStyle/>
                    <a:p>
                      <a:r>
                        <a:rPr sz="1425" b="0">
                          <a:solidFill>
                            <a:srgbClr val="627D90"/>
                          </a:solidFill>
                          <a:latin typeface="Arial"/>
                          <a:ea typeface="Arial"/>
                          <a:cs typeface="Arial"/>
                        </a:rPr>
                        <a:t>Rubric creation and writing feedback tools</a:t>
                      </a:r>
                    </a:p>
                  </a:txBody>
                  <a:tcPr marL="91440" marR="91440" marT="45720" marB="45720">
                    <a:solidFill>
                      <a:srgbClr val="F0F6FA"/>
                    </a:solidFill>
                  </a:tcPr>
                </a:tc>
                <a:tc>
                  <a:txBody>
                    <a:bodyPr/>
                    <a:lstStyle/>
                    <a:p>
                      <a:r>
                        <a:rPr sz="1425" b="0">
                          <a:solidFill>
                            <a:srgbClr val="627D90"/>
                          </a:solidFill>
                          <a:latin typeface="Arial"/>
                          <a:ea typeface="Arial"/>
                          <a:cs typeface="Arial"/>
                        </a:rPr>
                        <a:t>One paper-to-approval-to-lesson workflow</a:t>
                      </a:r>
                    </a:p>
                  </a:txBody>
                  <a:tcPr marL="91440" marR="91440" marT="45720" marB="45720">
                    <a:solidFill>
                      <a:srgbClr val="F0F6FA"/>
                    </a:solidFill>
                  </a:tcPr>
                </a:tc>
              </a:tr>
              <a:tr h="773906">
                <a:tc>
                  <a:txBody>
                    <a:bodyPr/>
                    <a:lstStyle/>
                    <a:p>
                      <a:r>
                        <a:rPr sz="1425" b="0">
                          <a:solidFill>
                            <a:srgbClr val="627D90"/>
                          </a:solidFill>
                          <a:latin typeface="Arial"/>
                          <a:ea typeface="Arial"/>
                          <a:cs typeface="Arial"/>
                        </a:rPr>
                        <a:t>Manual grading + spreadsheets</a:t>
                      </a:r>
                    </a:p>
                  </a:txBody>
                  <a:tcPr marL="91440" marR="91440" marT="45720" marB="45720">
                    <a:solidFill>
                      <a:srgbClr val="FFFFFF"/>
                    </a:solidFill>
                  </a:tcPr>
                </a:tc>
                <a:tc>
                  <a:txBody>
                    <a:bodyPr/>
                    <a:lstStyle/>
                    <a:p>
                      <a:r>
                        <a:rPr sz="1425" b="0">
                          <a:solidFill>
                            <a:srgbClr val="627D90"/>
                          </a:solidFill>
                          <a:latin typeface="Arial"/>
                          <a:ea typeface="Arial"/>
                          <a:cs typeface="Arial"/>
                        </a:rPr>
                        <a:t>Teacher’s existing workflow; no new tool to learn</a:t>
                      </a:r>
                    </a:p>
                  </a:txBody>
                  <a:tcPr marL="91440" marR="91440" marT="45720" marB="45720">
                    <a:solidFill>
                      <a:srgbClr val="FFFFFF"/>
                    </a:solidFill>
                  </a:tcPr>
                </a:tc>
                <a:tc>
                  <a:txBody>
                    <a:bodyPr/>
                    <a:lstStyle/>
                    <a:p>
                      <a:r>
                        <a:rPr sz="1425" b="0">
                          <a:solidFill>
                            <a:srgbClr val="627D90"/>
                          </a:solidFill>
                          <a:latin typeface="Arial"/>
                          <a:ea typeface="Arial"/>
                          <a:cs typeface="Arial"/>
                        </a:rPr>
                        <a:t>Less repeated feedback and grade entry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5F5D3C-4C48-4A90-B15E-9818CFF7134E}"/>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AI-assisted assessment is an established category. Differentiation is a hypothesis to test, not a claim that competitors lack every similar feature.</a:t>
            </a:r>
          </a:p>
        </p:txBody>
      </p:sp>
      <p:sp>
        <p:nvSpPr>
          <p:cNvPr id="5" name="">
            <a:extLst xmlns:a="http://schemas.openxmlformats.org/drawingml/2006/main">
              <a:ext uri="{FF2B5EF4-FFF2-40B4-BE49-F238E27FC236}">
                <a16:creationId xmlns:a16="http://schemas.microsoft.com/office/drawing/2014/main" id="{43FB8E27-BFBC-4729-B869-BFBA2C04CD8E}"/>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05 / 18</a:t>
            </a:r>
          </a:p>
        </p:txBody>
      </p:sp>
    </p:spTree>
    <p:extLst>
      <p:ext uri="{BB962C8B-B14F-4D97-AF65-F5344CB8AC3E}">
        <p14:creationId xmlns:p14="http://schemas.microsoft.com/office/powerpoint/2010/main" val="1689713784"/>
      </p:ext>
    </p:extLst>
  </p:cSld>
</p:sld>
</file>

<file path=ppt/slides/slide6.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65FE62-B57E-4892-BE32-53F14ADF60F6}"/>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TARGET USERS AND ADOPTION</a:t>
            </a:r>
          </a:p>
        </p:txBody>
      </p:sp>
      <p:sp>
        <p:nvSpPr>
          <p:cNvPr id="2" name="">
            <a:extLst xmlns:a="http://schemas.openxmlformats.org/drawingml/2006/main">
              <a:ext uri="{FF2B5EF4-FFF2-40B4-BE49-F238E27FC236}">
                <a16:creationId xmlns:a16="http://schemas.microsoft.com/office/drawing/2014/main" id="{2F92E31F-B6E3-4CF2-B3B2-BD4A6E546A40}"/>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Teachers use it. Schools sponsor it.</a:t>
            </a:r>
          </a:p>
        </p:txBody>
      </p:sp>
      <p:sp>
        <p:nvSpPr>
          <p:cNvPr id="3" name="">
            <a:extLst xmlns:a="http://schemas.openxmlformats.org/drawingml/2006/main">
              <a:ext uri="{FF2B5EF4-FFF2-40B4-BE49-F238E27FC236}">
                <a16:creationId xmlns:a16="http://schemas.microsoft.com/office/drawing/2014/main" id="{A15593F0-90F7-4204-8C4A-9DACB550EC70}"/>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Primary user</a:t>
            </a:r>
          </a:p>
        </p:txBody>
      </p:sp>
      <p:sp>
        <p:nvSpPr>
          <p:cNvPr id="4" name="">
            <a:extLst xmlns:a="http://schemas.openxmlformats.org/drawingml/2006/main">
              <a:ext uri="{FF2B5EF4-FFF2-40B4-BE49-F238E27FC236}">
                <a16:creationId xmlns:a16="http://schemas.microsoft.com/office/drawing/2014/main" id="{386B0702-9817-475B-B3EB-15ED2D51BA1B}"/>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Mathematics teachers in grades 8–10 who repeatedly mark short written assignments. Start with one department.</a:t>
            </a:r>
          </a:p>
        </p:txBody>
      </p:sp>
      <p:sp>
        <p:nvSpPr>
          <p:cNvPr id="5" name="">
            <a:extLst xmlns:a="http://schemas.openxmlformats.org/drawingml/2006/main">
              <a:ext uri="{FF2B5EF4-FFF2-40B4-BE49-F238E27FC236}">
                <a16:creationId xmlns:a16="http://schemas.microsoft.com/office/drawing/2014/main" id="{A356410B-9D37-41AE-9B42-2213D65225F9}"/>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Buyer and champion</a:t>
            </a:r>
          </a:p>
        </p:txBody>
      </p:sp>
      <p:sp>
        <p:nvSpPr>
          <p:cNvPr id="6" name="">
            <a:extLst xmlns:a="http://schemas.openxmlformats.org/drawingml/2006/main">
              <a:ext uri="{FF2B5EF4-FFF2-40B4-BE49-F238E27FC236}">
                <a16:creationId xmlns:a16="http://schemas.microsoft.com/office/drawing/2014/main" id="{3EC21B88-AEA9-4B2E-89C5-D712DFF9BC5B}"/>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A school principal or academic coordinator pays. A lead teacher recruits colleagues and owns the pilot’s rubric.</a:t>
            </a:r>
          </a:p>
        </p:txBody>
      </p:sp>
      <p:sp>
        <p:nvSpPr>
          <p:cNvPr id="7" name="">
            <a:extLst xmlns:a="http://schemas.openxmlformats.org/drawingml/2006/main">
              <a:ext uri="{FF2B5EF4-FFF2-40B4-BE49-F238E27FC236}">
                <a16:creationId xmlns:a16="http://schemas.microsoft.com/office/drawing/2014/main" id="{B08A3C65-7CF4-4B61-8BAD-B1FDBCAD855E}"/>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Reason to stay</a:t>
            </a:r>
          </a:p>
        </p:txBody>
      </p:sp>
      <p:sp>
        <p:nvSpPr>
          <p:cNvPr id="8" name="">
            <a:extLst xmlns:a="http://schemas.openxmlformats.org/drawingml/2006/main">
              <a:ext uri="{FF2B5EF4-FFF2-40B4-BE49-F238E27FC236}">
                <a16:creationId xmlns:a16="http://schemas.microsoft.com/office/drawing/2014/main" id="{E00331DD-366A-4129-9EAA-A4213890B1C5}"/>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Reusable rubrics, clear teacher overrides, exportable reports and useful follow-up lessons. Measure repeat use rather than sign-ups.</a:t>
            </a:r>
          </a:p>
        </p:txBody>
      </p:sp>
      <p:sp>
        <p:nvSpPr>
          <p:cNvPr id="9" name="">
            <a:extLst xmlns:a="http://schemas.openxmlformats.org/drawingml/2006/main">
              <a:ext uri="{FF2B5EF4-FFF2-40B4-BE49-F238E27FC236}">
                <a16:creationId xmlns:a16="http://schemas.microsoft.com/office/drawing/2014/main" id="{549EE10D-FA8A-40AF-8B16-C380AEC3125D}"/>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Adoption plan: 20-minute onboarding, one assignment graded alongside the existing method, then a weekly feedback session.</a:t>
            </a:r>
          </a:p>
        </p:txBody>
      </p:sp>
      <p:sp>
        <p:nvSpPr>
          <p:cNvPr id="10" name="">
            <a:extLst xmlns:a="http://schemas.openxmlformats.org/drawingml/2006/main">
              <a:ext uri="{FF2B5EF4-FFF2-40B4-BE49-F238E27FC236}">
                <a16:creationId xmlns:a16="http://schemas.microsoft.com/office/drawing/2014/main" id="{9D03028A-FD14-4812-9A8A-256FEDE19ABC}"/>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06 / 18</a:t>
            </a:r>
          </a:p>
        </p:txBody>
      </p:sp>
    </p:spTree>
    <p:extLst>
      <p:ext uri="{BB962C8B-B14F-4D97-AF65-F5344CB8AC3E}">
        <p14:creationId xmlns:p14="http://schemas.microsoft.com/office/powerpoint/2010/main" val="1819099448"/>
      </p:ext>
    </p:extLst>
  </p:cSld>
</p:sld>
</file>

<file path=ppt/slides/slide7.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B8D50BF-BC39-46B3-A8B7-5669704DE7E2}"/>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THE LIVE DEMO</a:t>
            </a:r>
          </a:p>
        </p:txBody>
      </p:sp>
      <p:sp>
        <p:nvSpPr>
          <p:cNvPr id="2" name="">
            <a:extLst xmlns:a="http://schemas.openxmlformats.org/drawingml/2006/main">
              <a:ext uri="{FF2B5EF4-FFF2-40B4-BE49-F238E27FC236}">
                <a16:creationId xmlns:a16="http://schemas.microsoft.com/office/drawing/2014/main" id="{D12450A0-997D-44A4-AC23-61F71439052F}"/>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One assignment, all the way through</a:t>
            </a:r>
          </a:p>
        </p:txBody>
      </p:sp>
      <p:sp>
        <p:nvSpPr>
          <p:cNvPr id="3" name="">
            <a:extLst xmlns:a="http://schemas.openxmlformats.org/drawingml/2006/main">
              <a:ext uri="{FF2B5EF4-FFF2-40B4-BE49-F238E27FC236}">
                <a16:creationId xmlns:a16="http://schemas.microsoft.com/office/drawing/2014/main" id="{1F6E7794-7070-4ADB-9CB7-17291568262C}"/>
              </a:ext>
            </a:extLst>
          </p:cNvPr>
          <p:cNvSpPr>
            <a:spLocks xmlns:a="http://schemas.openxmlformats.org/drawingml/2006/main" noGrp="1"/>
          </p:cNvSpPr>
          <p:nvPr/>
        </p:nvSpPr>
        <p:spPr>
          <a:xfrm xmlns:a="http://schemas.openxmlformats.org/drawingml/2006/main">
            <a:off x="609600" y="20478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58072F5-9753-424F-8767-D177632CC760}"/>
              </a:ext>
            </a:extLst>
          </p:cNvPr>
          <p:cNvSpPr>
            <a:spLocks xmlns:a="http://schemas.openxmlformats.org/drawingml/2006/main" noGrp="1"/>
          </p:cNvSpPr>
          <p:nvPr/>
        </p:nvSpPr>
        <p:spPr>
          <a:xfrm xmlns:a="http://schemas.openxmlformats.org/drawingml/2006/main">
            <a:off x="1257300" y="202882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Create an assignment and choose the grading rubric.</a:t>
            </a:r>
          </a:p>
        </p:txBody>
      </p:sp>
      <p:sp>
        <p:nvSpPr>
          <p:cNvPr id="5" name="">
            <a:extLst xmlns:a="http://schemas.openxmlformats.org/drawingml/2006/main">
              <a:ext uri="{FF2B5EF4-FFF2-40B4-BE49-F238E27FC236}">
                <a16:creationId xmlns:a16="http://schemas.microsoft.com/office/drawing/2014/main" id="{C8B891CC-C99F-44AB-9887-DD77ED69DEF6}"/>
              </a:ext>
            </a:extLst>
          </p:cNvPr>
          <p:cNvSpPr>
            <a:spLocks xmlns:a="http://schemas.openxmlformats.org/drawingml/2006/main" noGrp="1"/>
          </p:cNvSpPr>
          <p:nvPr/>
        </p:nvSpPr>
        <p:spPr>
          <a:xfrm xmlns:a="http://schemas.openxmlformats.org/drawingml/2006/main">
            <a:off x="609600" y="2762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EA3A964-14C4-4817-90FC-6452F7567800}"/>
              </a:ext>
            </a:extLst>
          </p:cNvPr>
          <p:cNvSpPr>
            <a:spLocks xmlns:a="http://schemas.openxmlformats.org/drawingml/2006/main" noGrp="1"/>
          </p:cNvSpPr>
          <p:nvPr/>
        </p:nvSpPr>
        <p:spPr>
          <a:xfrm xmlns:a="http://schemas.openxmlformats.org/drawingml/2006/main">
            <a:off x="1257300" y="2743200"/>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Load 28 sample papers and watch the analysis pipeline.</a:t>
            </a:r>
          </a:p>
        </p:txBody>
      </p:sp>
      <p:sp>
        <p:nvSpPr>
          <p:cNvPr id="7" name="">
            <a:extLst xmlns:a="http://schemas.openxmlformats.org/drawingml/2006/main">
              <a:ext uri="{FF2B5EF4-FFF2-40B4-BE49-F238E27FC236}">
                <a16:creationId xmlns:a16="http://schemas.microsoft.com/office/drawing/2014/main" id="{D85A66B2-25D8-489A-9786-A8BE9F99357C}"/>
              </a:ext>
            </a:extLst>
          </p:cNvPr>
          <p:cNvSpPr>
            <a:spLocks xmlns:a="http://schemas.openxmlformats.org/drawingml/2006/main" noGrp="1"/>
          </p:cNvSpPr>
          <p:nvPr/>
        </p:nvSpPr>
        <p:spPr>
          <a:xfrm xmlns:a="http://schemas.openxmlformats.org/drawingml/2006/main">
            <a:off x="609600" y="3476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2501A4DC-A6BA-4D3D-84D6-D9AC7B439191}"/>
              </a:ext>
            </a:extLst>
          </p:cNvPr>
          <p:cNvSpPr>
            <a:spLocks xmlns:a="http://schemas.openxmlformats.org/drawingml/2006/main" noGrp="1"/>
          </p:cNvSpPr>
          <p:nvPr/>
        </p:nvSpPr>
        <p:spPr>
          <a:xfrm xmlns:a="http://schemas.openxmlformats.org/drawingml/2006/main">
            <a:off x="1257300" y="345757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Bulk approve 25 high-confidence papers. Review two uncertain papers.</a:t>
            </a:r>
          </a:p>
        </p:txBody>
      </p:sp>
      <p:sp>
        <p:nvSpPr>
          <p:cNvPr id="9" name="">
            <a:extLst xmlns:a="http://schemas.openxmlformats.org/drawingml/2006/main">
              <a:ext uri="{FF2B5EF4-FFF2-40B4-BE49-F238E27FC236}">
                <a16:creationId xmlns:a16="http://schemas.microsoft.com/office/drawing/2014/main" id="{0CC1A4DB-EF78-48DF-9297-03F7DB222AE1}"/>
              </a:ext>
            </a:extLst>
          </p:cNvPr>
          <p:cNvSpPr>
            <a:spLocks xmlns:a="http://schemas.openxmlformats.org/drawingml/2006/main" noGrp="1"/>
          </p:cNvSpPr>
          <p:nvPr/>
        </p:nvSpPr>
        <p:spPr>
          <a:xfrm xmlns:a="http://schemas.openxmlformats.org/drawingml/2006/main">
            <a:off x="609600" y="41910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7D524DD-3031-4981-AC6E-3D70AD1E3620}"/>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Manually check the red paper, edit feedback, and approve.</a:t>
            </a:r>
          </a:p>
        </p:txBody>
      </p:sp>
      <p:sp>
        <p:nvSpPr>
          <p:cNvPr id="11" name="">
            <a:extLst xmlns:a="http://schemas.openxmlformats.org/drawingml/2006/main">
              <a:ext uri="{FF2B5EF4-FFF2-40B4-BE49-F238E27FC236}">
                <a16:creationId xmlns:a16="http://schemas.microsoft.com/office/drawing/2014/main" id="{499B3DA4-BDD5-47FD-9B4B-BF78E49401EE}"/>
              </a:ext>
            </a:extLst>
          </p:cNvPr>
          <p:cNvSpPr>
            <a:spLocks xmlns:a="http://schemas.openxmlformats.org/drawingml/2006/main" noGrp="1"/>
          </p:cNvSpPr>
          <p:nvPr/>
        </p:nvSpPr>
        <p:spPr>
          <a:xfrm xmlns:a="http://schemas.openxmlformats.org/drawingml/2006/main">
            <a:off x="609600" y="49053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77F782D1-9C4B-484F-BB6B-E66570CFB587}"/>
              </a:ext>
            </a:extLst>
          </p:cNvPr>
          <p:cNvSpPr>
            <a:spLocks xmlns:a="http://schemas.openxmlformats.org/drawingml/2006/main" noGrp="1"/>
          </p:cNvSpPr>
          <p:nvPr/>
        </p:nvSpPr>
        <p:spPr>
          <a:xfrm xmlns:a="http://schemas.openxmlformats.org/drawingml/2006/main">
            <a:off x="1257300" y="488632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Download the class report. Open Mistake Radar’s five-minute lesson.</a:t>
            </a:r>
          </a:p>
        </p:txBody>
      </p:sp>
      <p:sp>
        <p:nvSpPr>
          <p:cNvPr id="13" name="">
            <a:extLst xmlns:a="http://schemas.openxmlformats.org/drawingml/2006/main">
              <a:ext uri="{FF2B5EF4-FFF2-40B4-BE49-F238E27FC236}">
                <a16:creationId xmlns:a16="http://schemas.microsoft.com/office/drawing/2014/main" id="{0E1D25C6-B07B-4C64-A706-AF358344E81F}"/>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Demonstration only. Time-saving illustration: 28 × (4 − 0.5) minutes = 98 minutes, excluding setup and exceptional cases.</a:t>
            </a:r>
          </a:p>
        </p:txBody>
      </p:sp>
      <p:sp>
        <p:nvSpPr>
          <p:cNvPr id="14" name="">
            <a:extLst xmlns:a="http://schemas.openxmlformats.org/drawingml/2006/main">
              <a:ext uri="{FF2B5EF4-FFF2-40B4-BE49-F238E27FC236}">
                <a16:creationId xmlns:a16="http://schemas.microsoft.com/office/drawing/2014/main" id="{5363182D-F5E6-41C7-A776-2BC5EBFA981C}"/>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07 / 18</a:t>
            </a:r>
          </a:p>
        </p:txBody>
      </p:sp>
    </p:spTree>
    <p:extLst>
      <p:ext uri="{BB962C8B-B14F-4D97-AF65-F5344CB8AC3E}">
        <p14:creationId xmlns:p14="http://schemas.microsoft.com/office/powerpoint/2010/main" val="210864392"/>
      </p:ext>
    </p:extLst>
  </p:cSld>
</p:sld>
</file>

<file path=ppt/slides/slide8.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24CA44-3D9B-45C9-BD23-3D576C5BE974}"/>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SAMPLE SCREEN 1</a:t>
            </a:r>
          </a:p>
        </p:txBody>
      </p:sp>
      <p:sp>
        <p:nvSpPr>
          <p:cNvPr id="2" name="">
            <a:extLst xmlns:a="http://schemas.openxmlformats.org/drawingml/2006/main">
              <a:ext uri="{FF2B5EF4-FFF2-40B4-BE49-F238E27FC236}">
                <a16:creationId xmlns:a16="http://schemas.microsoft.com/office/drawing/2014/main" id="{E10EBC1A-F264-41CA-BD93-F4B8F2D6E63D}"/>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A calmer teaching dashboard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509f0ee4c84c30"/>
          <a:stretch xmlns:a="http://schemas.openxmlformats.org/drawingml/2006/main"/>
        </p:blipFill>
        <p:spPr>
          <a:xfrm xmlns:a="http://schemas.openxmlformats.org/drawingml/2006/main">
            <a:off x="3592259" y="1866900"/>
            <a:ext cx="4912232" cy="3981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19A665-0BB6-4168-B2E3-D4A0E85FCED6}"/>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Time savings are labeled illustrative. Pending work and quick actions share the same application state.</a:t>
            </a:r>
          </a:p>
        </p:txBody>
      </p:sp>
      <p:sp>
        <p:nvSpPr>
          <p:cNvPr id="5" name="">
            <a:extLst xmlns:a="http://schemas.openxmlformats.org/drawingml/2006/main">
              <a:ext uri="{FF2B5EF4-FFF2-40B4-BE49-F238E27FC236}">
                <a16:creationId xmlns:a16="http://schemas.microsoft.com/office/drawing/2014/main" id="{F571030C-DA54-4212-BDAD-DF76997C8D94}"/>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08 / 18</a:t>
            </a:r>
          </a:p>
        </p:txBody>
      </p:sp>
    </p:spTree>
    <p:extLst>
      <p:ext uri="{BB962C8B-B14F-4D97-AF65-F5344CB8AC3E}">
        <p14:creationId xmlns:p14="http://schemas.microsoft.com/office/powerpoint/2010/main" val="354870763"/>
      </p:ext>
    </p:extLst>
  </p:cSld>
</p:sld>
</file>

<file path=ppt/slides/slide9.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23C30E-F5B6-4919-99E3-7183015439C7}"/>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SAMPLE SCREEN 2</a:t>
            </a:r>
          </a:p>
        </p:txBody>
      </p:sp>
      <p:sp>
        <p:nvSpPr>
          <p:cNvPr id="2" name="">
            <a:extLst xmlns:a="http://schemas.openxmlformats.org/drawingml/2006/main">
              <a:ext uri="{FF2B5EF4-FFF2-40B4-BE49-F238E27FC236}">
                <a16:creationId xmlns:a16="http://schemas.microsoft.com/office/drawing/2014/main" id="{5EFBD0F7-A405-45EA-8880-A5A6312563DE}"/>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Evidence beside the student’s work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5baa6e586d54722"/>
          <a:stretch xmlns:a="http://schemas.openxmlformats.org/drawingml/2006/main"/>
        </p:blipFill>
        <p:spPr>
          <a:xfrm xmlns:a="http://schemas.openxmlformats.org/drawingml/2006/main">
            <a:off x="3592259" y="1866900"/>
            <a:ext cx="4912232" cy="3981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8F24D2-5E95-46AA-8DE5-9BAD6A6A15CE}"/>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Scores and feedback are editable. A manual-review paper cannot be approved until the teacher confirms their judgment.</a:t>
            </a:r>
          </a:p>
        </p:txBody>
      </p:sp>
      <p:sp>
        <p:nvSpPr>
          <p:cNvPr id="5" name="">
            <a:extLst xmlns:a="http://schemas.openxmlformats.org/drawingml/2006/main">
              <a:ext uri="{FF2B5EF4-FFF2-40B4-BE49-F238E27FC236}">
                <a16:creationId xmlns:a16="http://schemas.microsoft.com/office/drawing/2014/main" id="{207FE46C-3383-4941-93FF-F39E668B7735}"/>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09 / 18</a:t>
            </a:r>
          </a:p>
        </p:txBody>
      </p:sp>
    </p:spTree>
    <p:extLst>
      <p:ext uri="{BB962C8B-B14F-4D97-AF65-F5344CB8AC3E}">
        <p14:creationId xmlns:p14="http://schemas.microsoft.com/office/powerpoint/2010/main" val="773283438"/>
      </p:ext>
    </p:extLst>
  </p:cSld>
</p:sld>
</file>

<file path=ppt/slides/slide10.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D0C8E1-495C-4A81-A6DB-BF37D0C6E6BF}"/>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DIFFERENTIATING FEATURE AND SAMPLE SCREEN 3</a:t>
            </a:r>
          </a:p>
        </p:txBody>
      </p:sp>
      <p:sp>
        <p:nvSpPr>
          <p:cNvPr id="2" name="">
            <a:extLst xmlns:a="http://schemas.openxmlformats.org/drawingml/2006/main">
              <a:ext uri="{FF2B5EF4-FFF2-40B4-BE49-F238E27FC236}">
                <a16:creationId xmlns:a16="http://schemas.microsoft.com/office/drawing/2014/main" id="{44C9EF4B-7B3C-440B-BB0C-AA7205B61C53}"/>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Mistake Radar makes grading useful tomorrow</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21dc0e9d75a4297"/>
          <a:stretch xmlns:a="http://schemas.openxmlformats.org/drawingml/2006/main"/>
        </p:blipFill>
        <p:spPr>
          <a:xfrm xmlns:a="http://schemas.openxmlformats.org/drawingml/2006/main">
            <a:off x="3592259" y="1866900"/>
            <a:ext cx="4912232" cy="3981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BEC01B-4A9C-4690-9150-663EAA314FCC}"/>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11 of 28 sample students show sign errors (39%, rounded). Teachers can open their work and prepare a five-minute explanation.</a:t>
            </a:r>
          </a:p>
        </p:txBody>
      </p:sp>
      <p:sp>
        <p:nvSpPr>
          <p:cNvPr id="5" name="">
            <a:extLst xmlns:a="http://schemas.openxmlformats.org/drawingml/2006/main">
              <a:ext uri="{FF2B5EF4-FFF2-40B4-BE49-F238E27FC236}">
                <a16:creationId xmlns:a16="http://schemas.microsoft.com/office/drawing/2014/main" id="{3326065B-DF9B-43BF-9598-05D89DE10413}"/>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10 / 18</a:t>
            </a:r>
          </a:p>
        </p:txBody>
      </p:sp>
    </p:spTree>
    <p:extLst>
      <p:ext uri="{BB962C8B-B14F-4D97-AF65-F5344CB8AC3E}">
        <p14:creationId xmlns:p14="http://schemas.microsoft.com/office/powerpoint/2010/main" val="1481108422"/>
      </p:ext>
    </p:extLst>
  </p:cSld>
</p:sld>
</file>

<file path=ppt/slides/slide11.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2EBF25-A240-4867-84C9-1DC7DE2FDA16}"/>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PROPOSED MONETIZATION</a:t>
            </a:r>
          </a:p>
        </p:txBody>
      </p:sp>
      <p:sp>
        <p:nvSpPr>
          <p:cNvPr id="2" name="">
            <a:extLst xmlns:a="http://schemas.openxmlformats.org/drawingml/2006/main">
              <a:ext uri="{FF2B5EF4-FFF2-40B4-BE49-F238E27FC236}">
                <a16:creationId xmlns:a16="http://schemas.microsoft.com/office/drawing/2014/main" id="{224ED940-BE55-483E-AF7D-DBB904B58252}"/>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A school plan with predictable costs</a:t>
            </a:r>
          </a:p>
        </p:txBody>
      </p:sp>
      <p:sp>
        <p:nvSpPr>
          <p:cNvPr id="3" name="">
            <a:extLst xmlns:a="http://schemas.openxmlformats.org/drawingml/2006/main">
              <a:ext uri="{FF2B5EF4-FFF2-40B4-BE49-F238E27FC236}">
                <a16:creationId xmlns:a16="http://schemas.microsoft.com/office/drawing/2014/main" id="{0C71B5F0-1DE5-46A4-B97E-C501A3D06754}"/>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Free trial</a:t>
            </a:r>
          </a:p>
        </p:txBody>
      </p:sp>
      <p:sp>
        <p:nvSpPr>
          <p:cNvPr id="4" name="">
            <a:extLst xmlns:a="http://schemas.openxmlformats.org/drawingml/2006/main">
              <a:ext uri="{FF2B5EF4-FFF2-40B4-BE49-F238E27FC236}">
                <a16:creationId xmlns:a16="http://schemas.microsoft.com/office/drawing/2014/main" id="{DE051F44-9574-47E0-8B97-914F8E24E6E1}"/>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30 sample or consented papers for an evaluation. No open-ended free AI usage. Conversion follows a teacher time study.</a:t>
            </a:r>
          </a:p>
        </p:txBody>
      </p:sp>
      <p:sp>
        <p:nvSpPr>
          <p:cNvPr id="5" name="">
            <a:extLst xmlns:a="http://schemas.openxmlformats.org/drawingml/2006/main">
              <a:ext uri="{FF2B5EF4-FFF2-40B4-BE49-F238E27FC236}">
                <a16:creationId xmlns:a16="http://schemas.microsoft.com/office/drawing/2014/main" id="{CE09F37F-67EA-4314-AFD9-6ACFE491B33E}"/>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School plan · $1,080/year</a:t>
            </a:r>
          </a:p>
        </p:txBody>
      </p:sp>
      <p:sp>
        <p:nvSpPr>
          <p:cNvPr id="6" name="">
            <a:extLst xmlns:a="http://schemas.openxmlformats.org/drawingml/2006/main">
              <a:ext uri="{FF2B5EF4-FFF2-40B4-BE49-F238E27FC236}">
                <a16:creationId xmlns:a16="http://schemas.microsoft.com/office/drawing/2014/main" id="{4BBE94C4-8BCC-4051-90CA-3DDD4C366C8C}"/>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30 teacher seats at an effective $3 per seat per month. Shared annual allowance: 18,000 single-page papers.</a:t>
            </a:r>
          </a:p>
        </p:txBody>
      </p:sp>
      <p:sp>
        <p:nvSpPr>
          <p:cNvPr id="7" name="">
            <a:extLst xmlns:a="http://schemas.openxmlformats.org/drawingml/2006/main">
              <a:ext uri="{FF2B5EF4-FFF2-40B4-BE49-F238E27FC236}">
                <a16:creationId xmlns:a16="http://schemas.microsoft.com/office/drawing/2014/main" id="{D428492E-681B-40CE-A173-7CC2464130E2}"/>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Usage and service</a:t>
            </a:r>
          </a:p>
        </p:txBody>
      </p:sp>
      <p:sp>
        <p:nvSpPr>
          <p:cNvPr id="8" name="">
            <a:extLst xmlns:a="http://schemas.openxmlformats.org/drawingml/2006/main">
              <a:ext uri="{FF2B5EF4-FFF2-40B4-BE49-F238E27FC236}">
                <a16:creationId xmlns:a16="http://schemas.microsoft.com/office/drawing/2014/main" id="{941C0235-5913-4145-9FA0-FFB1CDBE5356}"/>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Optional prepaid 1,000-paper blocks at $40. Onboarding and enterprise support priced separately after pilot validation.</a:t>
            </a:r>
          </a:p>
        </p:txBody>
      </p:sp>
      <p:sp>
        <p:nvSpPr>
          <p:cNvPr id="9" name="">
            <a:extLst xmlns:a="http://schemas.openxmlformats.org/drawingml/2006/main">
              <a:ext uri="{FF2B5EF4-FFF2-40B4-BE49-F238E27FC236}">
                <a16:creationId xmlns:a16="http://schemas.microsoft.com/office/drawing/2014/main" id="{23205245-8B4E-4DB4-88E0-C650AA835DE3}"/>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All prices are hypotheses in USD equivalents, not local quotes. Forecast excludes overages and services; willingness to pay remains untested.</a:t>
            </a:r>
          </a:p>
        </p:txBody>
      </p:sp>
      <p:sp>
        <p:nvSpPr>
          <p:cNvPr id="10" name="">
            <a:extLst xmlns:a="http://schemas.openxmlformats.org/drawingml/2006/main">
              <a:ext uri="{FF2B5EF4-FFF2-40B4-BE49-F238E27FC236}">
                <a16:creationId xmlns:a16="http://schemas.microsoft.com/office/drawing/2014/main" id="{21B226B0-C62B-4481-9D0B-E3D41260936A}"/>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11 / 18</a:t>
            </a:r>
          </a:p>
        </p:txBody>
      </p:sp>
    </p:spTree>
    <p:extLst>
      <p:ext uri="{BB962C8B-B14F-4D97-AF65-F5344CB8AC3E}">
        <p14:creationId xmlns:p14="http://schemas.microsoft.com/office/powerpoint/2010/main" val="1063413137"/>
      </p:ext>
    </p:extLst>
  </p:cSld>
</p:sld>
</file>

<file path=ppt/slides/slide12.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89B0E1-3279-4A82-9937-6EF022B4C5F7}"/>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PRODUCT ROADMAP</a:t>
            </a:r>
          </a:p>
        </p:txBody>
      </p:sp>
      <p:sp>
        <p:nvSpPr>
          <p:cNvPr id="2" name="">
            <a:extLst xmlns:a="http://schemas.openxmlformats.org/drawingml/2006/main">
              <a:ext uri="{FF2B5EF4-FFF2-40B4-BE49-F238E27FC236}">
                <a16:creationId xmlns:a16="http://schemas.microsoft.com/office/drawing/2014/main" id="{4D1439CE-7F7E-412A-A970-B6BFA7902A88}"/>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The first six months test the hard parts</a:t>
            </a:r>
          </a:p>
        </p:txBody>
      </p:sp>
      <p:graphicFrame>
        <p:nvGraphicFramePr>
          <p:cNvPr id="8" name=""/>
          <p:cNvGraphicFramePr/>
          <p:nvPr/>
        </p:nvGraphicFramePr>
        <p:xfrm>
          <a:off xmlns:a="http://schemas.openxmlformats.org/drawingml/2006/main" x="609600" y="2047875"/>
          <a:ext xmlns:a="http://schemas.openxmlformats.org/drawingml/2006/main" cx="10877550" cy="3619500"/>
        </p:xfrm>
        <a:graphic xmlns:a="http://schemas.openxmlformats.org/drawingml/2006/main">
          <a:graphicData uri="http://schemas.openxmlformats.org/drawingml/2006/table">
            <a:tbl>
              <a:tblPr/>
              <a:tblGrid>
                <a:gridCol w="2238375"/>
                <a:gridCol w="1666875"/>
                <a:gridCol w="6972300"/>
              </a:tblGrid>
              <a:tr h="603250">
                <a:tc>
                  <a:txBody>
                    <a:bodyPr/>
                    <a:lstStyle/>
                    <a:p>
                      <a:r>
                        <a:rPr sz="1425" b="1">
                          <a:solidFill>
                            <a:srgbClr val="356482"/>
                          </a:solidFill>
                          <a:latin typeface="Arial"/>
                          <a:ea typeface="Arial"/>
                          <a:cs typeface="Arial"/>
                        </a:rPr>
                        <a:t>Stage</a:t>
                      </a:r>
                    </a:p>
                  </a:txBody>
                  <a:tcPr marL="91440" marR="91440" marT="45720" marB="45720">
                    <a:solidFill>
                      <a:srgbClr val="DDEEF9"/>
                    </a:solidFill>
                  </a:tcPr>
                </a:tc>
                <a:tc>
                  <a:txBody>
                    <a:bodyPr/>
                    <a:lstStyle/>
                    <a:p>
                      <a:r>
                        <a:rPr sz="1425" b="1">
                          <a:solidFill>
                            <a:srgbClr val="356482"/>
                          </a:solidFill>
                          <a:latin typeface="Arial"/>
                          <a:ea typeface="Arial"/>
                          <a:cs typeface="Arial"/>
                        </a:rPr>
                        <a:t>Timing</a:t>
                      </a:r>
                    </a:p>
                  </a:txBody>
                  <a:tcPr marL="91440" marR="91440" marT="45720" marB="45720">
                    <a:solidFill>
                      <a:srgbClr val="DDEEF9"/>
                    </a:solidFill>
                  </a:tcPr>
                </a:tc>
                <a:tc>
                  <a:txBody>
                    <a:bodyPr/>
                    <a:lstStyle/>
                    <a:p>
                      <a:r>
                        <a:rPr sz="1425" b="1">
                          <a:solidFill>
                            <a:srgbClr val="356482"/>
                          </a:solidFill>
                          <a:latin typeface="Arial"/>
                          <a:ea typeface="Arial"/>
                          <a:cs typeface="Arial"/>
                        </a:rPr>
                        <a:t>Deliverable and release gate</a:t>
                      </a:r>
                    </a:p>
                  </a:txBody>
                  <a:tcPr marL="91440" marR="91440" marT="45720" marB="45720">
                    <a:solidFill>
                      <a:srgbClr val="DDEEF9"/>
                    </a:solidFill>
                  </a:tcPr>
                </a:tc>
              </a:tr>
              <a:tr h="603250">
                <a:tc>
                  <a:txBody>
                    <a:bodyPr/>
                    <a:lstStyle/>
                    <a:p>
                      <a:r>
                        <a:rPr sz="1425" b="0">
                          <a:solidFill>
                            <a:srgbClr val="627D90"/>
                          </a:solidFill>
                          <a:latin typeface="Arial"/>
                          <a:ea typeface="Arial"/>
                          <a:cs typeface="Arial"/>
                        </a:rPr>
                        <a:t>Prototype</a:t>
                      </a:r>
                    </a:p>
                  </a:txBody>
                  <a:tcPr marL="91440" marR="91440" marT="45720" marB="45720">
                    <a:solidFill>
                      <a:srgbClr val="FFFFFF"/>
                    </a:solidFill>
                  </a:tcPr>
                </a:tc>
                <a:tc>
                  <a:txBody>
                    <a:bodyPr/>
                    <a:lstStyle/>
                    <a:p>
                      <a:r>
                        <a:rPr sz="1425" b="0">
                          <a:solidFill>
                            <a:srgbClr val="627D90"/>
                          </a:solidFill>
                          <a:latin typeface="Arial"/>
                          <a:ea typeface="Arial"/>
                          <a:cs typeface="Arial"/>
                        </a:rPr>
                        <a:t>Now</a:t>
                      </a:r>
                    </a:p>
                  </a:txBody>
                  <a:tcPr marL="91440" marR="91440" marT="45720" marB="45720">
                    <a:solidFill>
                      <a:srgbClr val="FFFFFF"/>
                    </a:solidFill>
                  </a:tcPr>
                </a:tc>
                <a:tc>
                  <a:txBody>
                    <a:bodyPr/>
                    <a:lstStyle/>
                    <a:p>
                      <a:r>
                        <a:rPr sz="1425" b="0">
                          <a:solidFill>
                            <a:srgbClr val="627D90"/>
                          </a:solidFill>
                          <a:latin typeface="Arial"/>
                          <a:ea typeface="Arial"/>
                          <a:cs typeface="Arial"/>
                        </a:rPr>
                        <a:t>Clickable workflow, sample evidence, approvals and exports</a:t>
                      </a:r>
                    </a:p>
                  </a:txBody>
                  <a:tcPr marL="91440" marR="91440" marT="45720" marB="45720">
                    <a:solidFill>
                      <a:srgbClr val="FFFFFF"/>
                    </a:solidFill>
                  </a:tcPr>
                </a:tc>
              </a:tr>
              <a:tr h="603250">
                <a:tc>
                  <a:txBody>
                    <a:bodyPr/>
                    <a:lstStyle/>
                    <a:p>
                      <a:r>
                        <a:rPr sz="1425" b="0">
                          <a:solidFill>
                            <a:srgbClr val="627D90"/>
                          </a:solidFill>
                          <a:latin typeface="Arial"/>
                          <a:ea typeface="Arial"/>
                          <a:cs typeface="Arial"/>
                        </a:rPr>
                        <a:t>Evaluated MVP</a:t>
                      </a:r>
                    </a:p>
                  </a:txBody>
                  <a:tcPr marL="91440" marR="91440" marT="45720" marB="45720">
                    <a:solidFill>
                      <a:srgbClr val="F0F6FA"/>
                    </a:solidFill>
                  </a:tcPr>
                </a:tc>
                <a:tc>
                  <a:txBody>
                    <a:bodyPr/>
                    <a:lstStyle/>
                    <a:p>
                      <a:r>
                        <a:rPr sz="1425" b="0">
                          <a:solidFill>
                            <a:srgbClr val="627D90"/>
                          </a:solidFill>
                          <a:latin typeface="Arial"/>
                          <a:ea typeface="Arial"/>
                          <a:cs typeface="Arial"/>
                        </a:rPr>
                        <a:t>Months 1–3</a:t>
                      </a:r>
                    </a:p>
                  </a:txBody>
                  <a:tcPr marL="91440" marR="91440" marT="45720" marB="45720">
                    <a:solidFill>
                      <a:srgbClr val="F0F6FA"/>
                    </a:solidFill>
                  </a:tcPr>
                </a:tc>
                <a:tc>
                  <a:txBody>
                    <a:bodyPr/>
                    <a:lstStyle/>
                    <a:p>
                      <a:r>
                        <a:rPr sz="1425" b="0">
                          <a:solidFill>
                            <a:srgbClr val="627D90"/>
                          </a:solidFill>
                          <a:latin typeface="Arial"/>
                          <a:ea typeface="Arial"/>
                          <a:cs typeface="Arial"/>
                        </a:rPr>
                        <a:t>Secure upload, OCR, math rubric scoring and audit log; 500 consented papers checked by two teachers</a:t>
                      </a:r>
                    </a:p>
                  </a:txBody>
                  <a:tcPr marL="91440" marR="91440" marT="45720" marB="45720">
                    <a:solidFill>
                      <a:srgbClr val="F0F6FA"/>
                    </a:solidFill>
                  </a:tcPr>
                </a:tc>
              </a:tr>
              <a:tr h="603250">
                <a:tc>
                  <a:txBody>
                    <a:bodyPr/>
                    <a:lstStyle/>
                    <a:p>
                      <a:r>
                        <a:rPr sz="1425" b="0">
                          <a:solidFill>
                            <a:srgbClr val="627D90"/>
                          </a:solidFill>
                          <a:latin typeface="Arial"/>
                          <a:ea typeface="Arial"/>
                          <a:cs typeface="Arial"/>
                        </a:rPr>
                        <a:t>School pilot</a:t>
                      </a:r>
                    </a:p>
                  </a:txBody>
                  <a:tcPr marL="91440" marR="91440" marT="45720" marB="45720">
                    <a:solidFill>
                      <a:srgbClr val="FFFFFF"/>
                    </a:solidFill>
                  </a:tcPr>
                </a:tc>
                <a:tc>
                  <a:txBody>
                    <a:bodyPr/>
                    <a:lstStyle/>
                    <a:p>
                      <a:r>
                        <a:rPr sz="1425" b="0">
                          <a:solidFill>
                            <a:srgbClr val="627D90"/>
                          </a:solidFill>
                          <a:latin typeface="Arial"/>
                          <a:ea typeface="Arial"/>
                          <a:cs typeface="Arial"/>
                        </a:rPr>
                        <a:t>Months 4–6</a:t>
                      </a:r>
                    </a:p>
                  </a:txBody>
                  <a:tcPr marL="91440" marR="91440" marT="45720" marB="45720">
                    <a:solidFill>
                      <a:srgbClr val="FFFFFF"/>
                    </a:solidFill>
                  </a:tcPr>
                </a:tc>
                <a:tc>
                  <a:txBody>
                    <a:bodyPr/>
                    <a:lstStyle/>
                    <a:p>
                      <a:r>
                        <a:rPr sz="1425" b="0">
                          <a:solidFill>
                            <a:srgbClr val="627D90"/>
                          </a:solidFill>
                          <a:latin typeface="Arial"/>
                          <a:ea typeface="Arial"/>
                          <a:cs typeface="Arial"/>
                        </a:rPr>
                        <a:t>3 schools, 30 teachers; Uzbek/Russian feedback review and measured time study</a:t>
                      </a:r>
                    </a:p>
                  </a:txBody>
                  <a:tcPr marL="91440" marR="91440" marT="45720" marB="45720">
                    <a:solidFill>
                      <a:srgbClr val="FFFFFF"/>
                    </a:solidFill>
                  </a:tcPr>
                </a:tc>
              </a:tr>
              <a:tr h="603250">
                <a:tc>
                  <a:txBody>
                    <a:bodyPr/>
                    <a:lstStyle/>
                    <a:p>
                      <a:r>
                        <a:rPr sz="1425" b="0">
                          <a:solidFill>
                            <a:srgbClr val="627D90"/>
                          </a:solidFill>
                          <a:latin typeface="Arial"/>
                          <a:ea typeface="Arial"/>
                          <a:cs typeface="Arial"/>
                        </a:rPr>
                        <a:t>Paid rollout</a:t>
                      </a:r>
                    </a:p>
                  </a:txBody>
                  <a:tcPr marL="91440" marR="91440" marT="45720" marB="45720">
                    <a:solidFill>
                      <a:srgbClr val="F0F6FA"/>
                    </a:solidFill>
                  </a:tcPr>
                </a:tc>
                <a:tc>
                  <a:txBody>
                    <a:bodyPr/>
                    <a:lstStyle/>
                    <a:p>
                      <a:r>
                        <a:rPr sz="1425" b="0">
                          <a:solidFill>
                            <a:srgbClr val="627D90"/>
                          </a:solidFill>
                          <a:latin typeface="Arial"/>
                          <a:ea typeface="Arial"/>
                          <a:cs typeface="Arial"/>
                        </a:rPr>
                        <a:t>Months 7–12</a:t>
                      </a:r>
                    </a:p>
                  </a:txBody>
                  <a:tcPr marL="91440" marR="91440" marT="45720" marB="45720">
                    <a:solidFill>
                      <a:srgbClr val="F0F6FA"/>
                    </a:solidFill>
                  </a:tcPr>
                </a:tc>
                <a:tc>
                  <a:txBody>
                    <a:bodyPr/>
                    <a:lstStyle/>
                    <a:p>
                      <a:r>
                        <a:rPr sz="1425" b="0">
                          <a:solidFill>
                            <a:srgbClr val="627D90"/>
                          </a:solidFill>
                          <a:latin typeface="Arial"/>
                          <a:ea typeface="Arial"/>
                          <a:cs typeface="Arial"/>
                        </a:rPr>
                        <a:t>Reporting, admin controls and reliability; convert pilot only when safety and value gates pass</a:t>
                      </a:r>
                    </a:p>
                  </a:txBody>
                  <a:tcPr marL="91440" marR="91440" marT="45720" marB="45720">
                    <a:solidFill>
                      <a:srgbClr val="F0F6FA"/>
                    </a:solidFill>
                  </a:tcPr>
                </a:tc>
              </a:tr>
              <a:tr h="603250">
                <a:tc>
                  <a:txBody>
                    <a:bodyPr/>
                    <a:lstStyle/>
                    <a:p>
                      <a:r>
                        <a:rPr sz="1425" b="0">
                          <a:solidFill>
                            <a:srgbClr val="627D90"/>
                          </a:solidFill>
                          <a:latin typeface="Arial"/>
                          <a:ea typeface="Arial"/>
                          <a:cs typeface="Arial"/>
                        </a:rPr>
                        <a:t>Expansion</a:t>
                      </a:r>
                    </a:p>
                  </a:txBody>
                  <a:tcPr marL="91440" marR="91440" marT="45720" marB="45720">
                    <a:solidFill>
                      <a:srgbClr val="FFFFFF"/>
                    </a:solidFill>
                  </a:tcPr>
                </a:tc>
                <a:tc>
                  <a:txBody>
                    <a:bodyPr/>
                    <a:lstStyle/>
                    <a:p>
                      <a:r>
                        <a:rPr sz="1425" b="0">
                          <a:solidFill>
                            <a:srgbClr val="627D90"/>
                          </a:solidFill>
                          <a:latin typeface="Arial"/>
                          <a:ea typeface="Arial"/>
                          <a:cs typeface="Arial"/>
                        </a:rPr>
                        <a:t>Year 2 onward</a:t>
                      </a:r>
                    </a:p>
                  </a:txBody>
                  <a:tcPr marL="91440" marR="91440" marT="45720" marB="45720">
                    <a:solidFill>
                      <a:srgbClr val="FFFFFF"/>
                    </a:solidFill>
                  </a:tcPr>
                </a:tc>
                <a:tc>
                  <a:txBody>
                    <a:bodyPr/>
                    <a:lstStyle/>
                    <a:p>
                      <a:r>
                        <a:rPr sz="1425" b="0">
                          <a:solidFill>
                            <a:srgbClr val="627D90"/>
                          </a:solidFill>
                          <a:latin typeface="Arial"/>
                          <a:ea typeface="Arial"/>
                          <a:cs typeface="Arial"/>
                        </a:rPr>
                        <a:t>Other subjects, regional schools and approved integrations after separate evaluations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9C4A6EB-FECE-48DD-8C10-89F51F68292D}"/>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Planning assumption: two engineers plus part-time teaching, design and privacy support. Complex open-ended grading stays out of the first MVP.</a:t>
            </a:r>
          </a:p>
        </p:txBody>
      </p:sp>
      <p:sp>
        <p:nvSpPr>
          <p:cNvPr id="5" name="">
            <a:extLst xmlns:a="http://schemas.openxmlformats.org/drawingml/2006/main">
              <a:ext uri="{FF2B5EF4-FFF2-40B4-BE49-F238E27FC236}">
                <a16:creationId xmlns:a16="http://schemas.microsoft.com/office/drawing/2014/main" id="{2C0F7EAF-755A-43FF-9553-4C1D82622ABA}"/>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12 / 18</a:t>
            </a:r>
          </a:p>
        </p:txBody>
      </p:sp>
    </p:spTree>
    <p:extLst>
      <p:ext uri="{BB962C8B-B14F-4D97-AF65-F5344CB8AC3E}">
        <p14:creationId xmlns:p14="http://schemas.microsoft.com/office/powerpoint/2010/main" val="21669324"/>
      </p:ext>
    </p:extLst>
  </p:cSld>
</p:sld>
</file>

<file path=ppt/slides/slide13.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C90B25-04CB-4BA2-AEF2-BBEF606338E4}"/>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GO-TO-MARKET AND EXPANSION</a:t>
            </a:r>
          </a:p>
        </p:txBody>
      </p:sp>
      <p:sp>
        <p:nvSpPr>
          <p:cNvPr id="2" name="">
            <a:extLst xmlns:a="http://schemas.openxmlformats.org/drawingml/2006/main">
              <a:ext uri="{FF2B5EF4-FFF2-40B4-BE49-F238E27FC236}">
                <a16:creationId xmlns:a16="http://schemas.microsoft.com/office/drawing/2014/main" id="{E6277CD9-A8EE-4EA9-AA6C-7B70F427C51D}"/>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School pilots create the first reference users</a:t>
            </a:r>
          </a:p>
        </p:txBody>
      </p:sp>
      <p:sp>
        <p:nvSpPr>
          <p:cNvPr id="3" name="">
            <a:extLst xmlns:a="http://schemas.openxmlformats.org/drawingml/2006/main">
              <a:ext uri="{FF2B5EF4-FFF2-40B4-BE49-F238E27FC236}">
                <a16:creationId xmlns:a16="http://schemas.microsoft.com/office/drawing/2014/main" id="{5C512D62-CDCA-4563-89FA-18AD14CA1BBA}"/>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First 90 days</a:t>
            </a:r>
          </a:p>
        </p:txBody>
      </p:sp>
      <p:sp>
        <p:nvSpPr>
          <p:cNvPr id="4" name="">
            <a:extLst xmlns:a="http://schemas.openxmlformats.org/drawingml/2006/main">
              <a:ext uri="{FF2B5EF4-FFF2-40B4-BE49-F238E27FC236}">
                <a16:creationId xmlns:a16="http://schemas.microsoft.com/office/drawing/2014/main" id="{1ED2182A-E8C6-4D6C-B677-94875405A901}"/>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Recruit 3 schools through lead teachers and direct demos. Obtain school approval and consent before real student work.</a:t>
            </a:r>
          </a:p>
        </p:txBody>
      </p:sp>
      <p:sp>
        <p:nvSpPr>
          <p:cNvPr id="5" name="">
            <a:extLst xmlns:a="http://schemas.openxmlformats.org/drawingml/2006/main">
              <a:ext uri="{FF2B5EF4-FFF2-40B4-BE49-F238E27FC236}">
                <a16:creationId xmlns:a16="http://schemas.microsoft.com/office/drawing/2014/main" id="{F9F2F3AF-1918-43D5-BB4A-EF4E5491E442}"/>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Months 4–12</a:t>
            </a:r>
          </a:p>
        </p:txBody>
      </p:sp>
      <p:sp>
        <p:nvSpPr>
          <p:cNvPr id="6" name="">
            <a:extLst xmlns:a="http://schemas.openxmlformats.org/drawingml/2006/main">
              <a:ext uri="{FF2B5EF4-FFF2-40B4-BE49-F238E27FC236}">
                <a16:creationId xmlns:a16="http://schemas.microsoft.com/office/drawing/2014/main" id="{81F1B072-5826-47E8-92C7-280BCA2E5B89}"/>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Run six-week pilots with paired manual and assisted grading. Publish consented case studies. Target 10 paid schools at year-end.</a:t>
            </a:r>
          </a:p>
        </p:txBody>
      </p:sp>
      <p:sp>
        <p:nvSpPr>
          <p:cNvPr id="7" name="">
            <a:extLst xmlns:a="http://schemas.openxmlformats.org/drawingml/2006/main">
              <a:ext uri="{FF2B5EF4-FFF2-40B4-BE49-F238E27FC236}">
                <a16:creationId xmlns:a16="http://schemas.microsoft.com/office/drawing/2014/main" id="{6412BCAA-E11C-400C-A797-746873E9C1DC}"/>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Year 2 and 3</a:t>
            </a:r>
          </a:p>
        </p:txBody>
      </p:sp>
      <p:sp>
        <p:nvSpPr>
          <p:cNvPr id="8" name="">
            <a:extLst xmlns:a="http://schemas.openxmlformats.org/drawingml/2006/main">
              <a:ext uri="{FF2B5EF4-FFF2-40B4-BE49-F238E27FC236}">
                <a16:creationId xmlns:a16="http://schemas.microsoft.com/office/drawing/2014/main" id="{E56B8723-5394-4727-AEFA-348C0C5FF12F}"/>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Use teacher referrals and academic coordinator outreach. Expand across regions, then evaluate universities and neighboring language markets.</a:t>
            </a:r>
          </a:p>
        </p:txBody>
      </p:sp>
      <p:sp>
        <p:nvSpPr>
          <p:cNvPr id="9" name="">
            <a:extLst xmlns:a="http://schemas.openxmlformats.org/drawingml/2006/main">
              <a:ext uri="{FF2B5EF4-FFF2-40B4-BE49-F238E27FC236}">
                <a16:creationId xmlns:a16="http://schemas.microsoft.com/office/drawing/2014/main" id="{677AD983-8CEA-41C9-BB4E-54939304C75F}"/>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Illustrative Year 1 funnel: 100 qualified school contacts, 25 demos, 15 pilots, 10 paid schools. Conversion is a target, not evidence.</a:t>
            </a:r>
          </a:p>
        </p:txBody>
      </p:sp>
      <p:sp>
        <p:nvSpPr>
          <p:cNvPr id="10" name="">
            <a:extLst xmlns:a="http://schemas.openxmlformats.org/drawingml/2006/main">
              <a:ext uri="{FF2B5EF4-FFF2-40B4-BE49-F238E27FC236}">
                <a16:creationId xmlns:a16="http://schemas.microsoft.com/office/drawing/2014/main" id="{C469A320-05C7-41FC-B5D8-BC10499B60FD}"/>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13 / 18</a:t>
            </a:r>
          </a:p>
        </p:txBody>
      </p:sp>
    </p:spTree>
    <p:extLst>
      <p:ext uri="{BB962C8B-B14F-4D97-AF65-F5344CB8AC3E}">
        <p14:creationId xmlns:p14="http://schemas.microsoft.com/office/powerpoint/2010/main" val="387730002"/>
      </p:ext>
    </p:extLst>
  </p:cSld>
</p:sld>
</file>

<file path=ppt/slides/slide14.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DCEB64-CFA1-44F1-B7A0-052972F1487E}"/>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THREE-YEAR OPERATING SCENARIO · USD, BEFORE TAX</a:t>
            </a:r>
          </a:p>
        </p:txBody>
      </p:sp>
      <p:sp>
        <p:nvSpPr>
          <p:cNvPr id="2" name="">
            <a:extLst xmlns:a="http://schemas.openxmlformats.org/drawingml/2006/main">
              <a:ext uri="{FF2B5EF4-FFF2-40B4-BE49-F238E27FC236}">
                <a16:creationId xmlns:a16="http://schemas.microsoft.com/office/drawing/2014/main" id="{DB345804-B6C2-4A2F-8C67-5638684B7E21}"/>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A modest scale still needs early funding</a:t>
            </a:r>
          </a:p>
        </p:txBody>
      </p:sp>
      <p:graphicFrame>
        <p:nvGraphicFramePr>
          <p:cNvPr id="8" name=""/>
          <p:cNvGraphicFramePr/>
          <p:nvPr/>
        </p:nvGraphicFramePr>
        <p:xfrm>
          <a:off xmlns:a="http://schemas.openxmlformats.org/drawingml/2006/main" x="609600" y="2047875"/>
          <a:ext xmlns:a="http://schemas.openxmlformats.org/drawingml/2006/main" cx="10877550" cy="3486150"/>
        </p:xfrm>
        <a:graphic xmlns:a="http://schemas.openxmlformats.org/drawingml/2006/main">
          <a:graphicData uri="http://schemas.openxmlformats.org/drawingml/2006/table">
            <a:tbl>
              <a:tblPr/>
              <a:tblGrid>
                <a:gridCol w="4762500"/>
                <a:gridCol w="2038350"/>
                <a:gridCol w="2038350"/>
                <a:gridCol w="2038350"/>
              </a:tblGrid>
              <a:tr h="387350">
                <a:tc>
                  <a:txBody>
                    <a:bodyPr/>
                    <a:lstStyle/>
                    <a:p>
                      <a:r>
                        <a:rPr sz="1350" b="1">
                          <a:solidFill>
                            <a:srgbClr val="356482"/>
                          </a:solidFill>
                          <a:latin typeface="Arial"/>
                          <a:ea typeface="Arial"/>
                          <a:cs typeface="Arial"/>
                        </a:rPr>
                        <a:t>Planning metric</a:t>
                      </a:r>
                    </a:p>
                  </a:txBody>
                  <a:tcPr marL="91440" marR="91440" marT="45720" marB="45720">
                    <a:solidFill>
                      <a:srgbClr val="DDEEF9"/>
                    </a:solidFill>
                  </a:tcPr>
                </a:tc>
                <a:tc>
                  <a:txBody>
                    <a:bodyPr/>
                    <a:lstStyle/>
                    <a:p>
                      <a:r>
                        <a:rPr sz="1350" b="1">
                          <a:solidFill>
                            <a:srgbClr val="356482"/>
                          </a:solidFill>
                          <a:latin typeface="Arial"/>
                          <a:ea typeface="Arial"/>
                          <a:cs typeface="Arial"/>
                        </a:rPr>
                        <a:t>Year 1</a:t>
                      </a:r>
                    </a:p>
                  </a:txBody>
                  <a:tcPr marL="91440" marR="91440" marT="45720" marB="45720">
                    <a:solidFill>
                      <a:srgbClr val="DDEEF9"/>
                    </a:solidFill>
                  </a:tcPr>
                </a:tc>
                <a:tc>
                  <a:txBody>
                    <a:bodyPr/>
                    <a:lstStyle/>
                    <a:p>
                      <a:r>
                        <a:rPr sz="1350" b="1">
                          <a:solidFill>
                            <a:srgbClr val="356482"/>
                          </a:solidFill>
                          <a:latin typeface="Arial"/>
                          <a:ea typeface="Arial"/>
                          <a:cs typeface="Arial"/>
                        </a:rPr>
                        <a:t>Year 2</a:t>
                      </a:r>
                    </a:p>
                  </a:txBody>
                  <a:tcPr marL="91440" marR="91440" marT="45720" marB="45720">
                    <a:solidFill>
                      <a:srgbClr val="DDEEF9"/>
                    </a:solidFill>
                  </a:tcPr>
                </a:tc>
                <a:tc>
                  <a:txBody>
                    <a:bodyPr/>
                    <a:lstStyle/>
                    <a:p>
                      <a:r>
                        <a:rPr sz="1350" b="1">
                          <a:solidFill>
                            <a:srgbClr val="356482"/>
                          </a:solidFill>
                          <a:latin typeface="Arial"/>
                          <a:ea typeface="Arial"/>
                          <a:cs typeface="Arial"/>
                        </a:rPr>
                        <a:t>Year 3</a:t>
                      </a:r>
                    </a:p>
                  </a:txBody>
                  <a:tcPr marL="91440" marR="91440" marT="45720" marB="45720">
                    <a:solidFill>
                      <a:srgbClr val="DDEEF9"/>
                    </a:solidFill>
                  </a:tcPr>
                </a:tc>
              </a:tr>
              <a:tr h="387350">
                <a:tc>
                  <a:txBody>
                    <a:bodyPr/>
                    <a:lstStyle/>
                    <a:p>
                      <a:r>
                        <a:rPr sz="1350" b="0">
                          <a:solidFill>
                            <a:srgbClr val="627D90"/>
                          </a:solidFill>
                          <a:latin typeface="Arial"/>
                          <a:ea typeface="Arial"/>
                          <a:cs typeface="Arial"/>
                        </a:rPr>
                        <a:t>Schools at year-end</a:t>
                      </a:r>
                    </a:p>
                  </a:txBody>
                  <a:tcPr marL="91440" marR="91440" marT="45720" marB="45720">
                    <a:solidFill>
                      <a:srgbClr val="FFFFFF"/>
                    </a:solidFill>
                  </a:tcPr>
                </a:tc>
                <a:tc>
                  <a:txBody>
                    <a:bodyPr/>
                    <a:lstStyle/>
                    <a:p>
                      <a:r>
                        <a:rPr sz="1350" b="0">
                          <a:solidFill>
                            <a:srgbClr val="627D90"/>
                          </a:solidFill>
                          <a:latin typeface="Arial"/>
                          <a:ea typeface="Arial"/>
                          <a:cs typeface="Arial"/>
                        </a:rPr>
                        <a:t>10</a:t>
                      </a:r>
                    </a:p>
                  </a:txBody>
                  <a:tcPr marL="91440" marR="91440" marT="45720" marB="45720">
                    <a:solidFill>
                      <a:srgbClr val="FFFFFF"/>
                    </a:solidFill>
                  </a:tcPr>
                </a:tc>
                <a:tc>
                  <a:txBody>
                    <a:bodyPr/>
                    <a:lstStyle/>
                    <a:p>
                      <a:r>
                        <a:rPr sz="1350" b="0">
                          <a:solidFill>
                            <a:srgbClr val="627D90"/>
                          </a:solidFill>
                          <a:latin typeface="Arial"/>
                          <a:ea typeface="Arial"/>
                          <a:cs typeface="Arial"/>
                        </a:rPr>
                        <a:t>50</a:t>
                      </a:r>
                    </a:p>
                  </a:txBody>
                  <a:tcPr marL="91440" marR="91440" marT="45720" marB="45720">
                    <a:solidFill>
                      <a:srgbClr val="FFFFFF"/>
                    </a:solidFill>
                  </a:tcPr>
                </a:tc>
                <a:tc>
                  <a:txBody>
                    <a:bodyPr/>
                    <a:lstStyle/>
                    <a:p>
                      <a:r>
                        <a:rPr sz="1350" b="0">
                          <a:solidFill>
                            <a:srgbClr val="627D90"/>
                          </a:solidFill>
                          <a:latin typeface="Arial"/>
                          <a:ea typeface="Arial"/>
                          <a:cs typeface="Arial"/>
                        </a:rPr>
                        <a:t>150</a:t>
                      </a:r>
                    </a:p>
                  </a:txBody>
                  <a:tcPr marL="91440" marR="91440" marT="45720" marB="45720">
                    <a:solidFill>
                      <a:srgbClr val="FFFFFF"/>
                    </a:solidFill>
                  </a:tcPr>
                </a:tc>
              </a:tr>
              <a:tr h="387350">
                <a:tc>
                  <a:txBody>
                    <a:bodyPr/>
                    <a:lstStyle/>
                    <a:p>
                      <a:r>
                        <a:rPr sz="1350" b="0">
                          <a:solidFill>
                            <a:srgbClr val="627D90"/>
                          </a:solidFill>
                          <a:latin typeface="Arial"/>
                          <a:ea typeface="Arial"/>
                          <a:cs typeface="Arial"/>
                        </a:rPr>
                        <a:t>Average paid schools</a:t>
                      </a:r>
                    </a:p>
                  </a:txBody>
                  <a:tcPr marL="91440" marR="91440" marT="45720" marB="45720">
                    <a:solidFill>
                      <a:srgbClr val="F0F6FA"/>
                    </a:solidFill>
                  </a:tcPr>
                </a:tc>
                <a:tc>
                  <a:txBody>
                    <a:bodyPr/>
                    <a:lstStyle/>
                    <a:p>
                      <a:r>
                        <a:rPr sz="1350" b="0">
                          <a:solidFill>
                            <a:srgbClr val="627D90"/>
                          </a:solidFill>
                          <a:latin typeface="Arial"/>
                          <a:ea typeface="Arial"/>
                          <a:cs typeface="Arial"/>
                        </a:rPr>
                        <a:t>5</a:t>
                      </a:r>
                    </a:p>
                  </a:txBody>
                  <a:tcPr marL="91440" marR="91440" marT="45720" marB="45720">
                    <a:solidFill>
                      <a:srgbClr val="F0F6FA"/>
                    </a:solidFill>
                  </a:tcPr>
                </a:tc>
                <a:tc>
                  <a:txBody>
                    <a:bodyPr/>
                    <a:lstStyle/>
                    <a:p>
                      <a:r>
                        <a:rPr sz="1350" b="0">
                          <a:solidFill>
                            <a:srgbClr val="627D90"/>
                          </a:solidFill>
                          <a:latin typeface="Arial"/>
                          <a:ea typeface="Arial"/>
                          <a:cs typeface="Arial"/>
                        </a:rPr>
                        <a:t>30</a:t>
                      </a:r>
                    </a:p>
                  </a:txBody>
                  <a:tcPr marL="91440" marR="91440" marT="45720" marB="45720">
                    <a:solidFill>
                      <a:srgbClr val="F0F6FA"/>
                    </a:solidFill>
                  </a:tcPr>
                </a:tc>
                <a:tc>
                  <a:txBody>
                    <a:bodyPr/>
                    <a:lstStyle/>
                    <a:p>
                      <a:r>
                        <a:rPr sz="1350" b="0">
                          <a:solidFill>
                            <a:srgbClr val="627D90"/>
                          </a:solidFill>
                          <a:latin typeface="Arial"/>
                          <a:ea typeface="Arial"/>
                          <a:cs typeface="Arial"/>
                        </a:rPr>
                        <a:t>100</a:t>
                      </a:r>
                    </a:p>
                  </a:txBody>
                  <a:tcPr marL="91440" marR="91440" marT="45720" marB="45720">
                    <a:solidFill>
                      <a:srgbClr val="F0F6FA"/>
                    </a:solidFill>
                  </a:tcPr>
                </a:tc>
              </a:tr>
              <a:tr h="387350">
                <a:tc>
                  <a:txBody>
                    <a:bodyPr/>
                    <a:lstStyle/>
                    <a:p>
                      <a:r>
                        <a:rPr sz="1350" b="0">
                          <a:solidFill>
                            <a:srgbClr val="627D90"/>
                          </a:solidFill>
                          <a:latin typeface="Arial"/>
                          <a:ea typeface="Arial"/>
                          <a:cs typeface="Arial"/>
                        </a:rPr>
                        <a:t>Average licensed teachers</a:t>
                      </a:r>
                    </a:p>
                  </a:txBody>
                  <a:tcPr marL="91440" marR="91440" marT="45720" marB="45720">
                    <a:solidFill>
                      <a:srgbClr val="FFFFFF"/>
                    </a:solidFill>
                  </a:tcPr>
                </a:tc>
                <a:tc>
                  <a:txBody>
                    <a:bodyPr/>
                    <a:lstStyle/>
                    <a:p>
                      <a:r>
                        <a:rPr sz="1350" b="0">
                          <a:solidFill>
                            <a:srgbClr val="627D90"/>
                          </a:solidFill>
                          <a:latin typeface="Arial"/>
                          <a:ea typeface="Arial"/>
                          <a:cs typeface="Arial"/>
                        </a:rPr>
                        <a:t>150</a:t>
                      </a:r>
                    </a:p>
                  </a:txBody>
                  <a:tcPr marL="91440" marR="91440" marT="45720" marB="45720">
                    <a:solidFill>
                      <a:srgbClr val="FFFFFF"/>
                    </a:solidFill>
                  </a:tcPr>
                </a:tc>
                <a:tc>
                  <a:txBody>
                    <a:bodyPr/>
                    <a:lstStyle/>
                    <a:p>
                      <a:r>
                        <a:rPr sz="1350" b="0">
                          <a:solidFill>
                            <a:srgbClr val="627D90"/>
                          </a:solidFill>
                          <a:latin typeface="Arial"/>
                          <a:ea typeface="Arial"/>
                          <a:cs typeface="Arial"/>
                        </a:rPr>
                        <a:t>900</a:t>
                      </a:r>
                    </a:p>
                  </a:txBody>
                  <a:tcPr marL="91440" marR="91440" marT="45720" marB="45720">
                    <a:solidFill>
                      <a:srgbClr val="FFFFFF"/>
                    </a:solidFill>
                  </a:tcPr>
                </a:tc>
                <a:tc>
                  <a:txBody>
                    <a:bodyPr/>
                    <a:lstStyle/>
                    <a:p>
                      <a:r>
                        <a:rPr sz="1350" b="0">
                          <a:solidFill>
                            <a:srgbClr val="627D90"/>
                          </a:solidFill>
                          <a:latin typeface="Arial"/>
                          <a:ea typeface="Arial"/>
                          <a:cs typeface="Arial"/>
                        </a:rPr>
                        <a:t>3,000</a:t>
                      </a:r>
                    </a:p>
                  </a:txBody>
                  <a:tcPr marL="91440" marR="91440" marT="45720" marB="45720">
                    <a:solidFill>
                      <a:srgbClr val="FFFFFF"/>
                    </a:solidFill>
                  </a:tcPr>
                </a:tc>
              </a:tr>
              <a:tr h="387350">
                <a:tc>
                  <a:txBody>
                    <a:bodyPr/>
                    <a:lstStyle/>
                    <a:p>
                      <a:r>
                        <a:rPr sz="1350" b="0">
                          <a:solidFill>
                            <a:srgbClr val="627D90"/>
                          </a:solidFill>
                          <a:latin typeface="Arial"/>
                          <a:ea typeface="Arial"/>
                          <a:cs typeface="Arial"/>
                        </a:rPr>
                        <a:t>Subscription revenue</a:t>
                      </a:r>
                    </a:p>
                  </a:txBody>
                  <a:tcPr marL="91440" marR="91440" marT="45720" marB="45720">
                    <a:solidFill>
                      <a:srgbClr val="F0F6FA"/>
                    </a:solidFill>
                  </a:tcPr>
                </a:tc>
                <a:tc>
                  <a:txBody>
                    <a:bodyPr/>
                    <a:lstStyle/>
                    <a:p>
                      <a:r>
                        <a:rPr sz="1350" b="0">
                          <a:solidFill>
                            <a:srgbClr val="627D90"/>
                          </a:solidFill>
                          <a:latin typeface="Arial"/>
                          <a:ea typeface="Arial"/>
                          <a:cs typeface="Arial"/>
                        </a:rPr>
                        <a:t>5,400</a:t>
                      </a:r>
                    </a:p>
                  </a:txBody>
                  <a:tcPr marL="91440" marR="91440" marT="45720" marB="45720">
                    <a:solidFill>
                      <a:srgbClr val="F0F6FA"/>
                    </a:solidFill>
                  </a:tcPr>
                </a:tc>
                <a:tc>
                  <a:txBody>
                    <a:bodyPr/>
                    <a:lstStyle/>
                    <a:p>
                      <a:r>
                        <a:rPr sz="1350" b="0">
                          <a:solidFill>
                            <a:srgbClr val="627D90"/>
                          </a:solidFill>
                          <a:latin typeface="Arial"/>
                          <a:ea typeface="Arial"/>
                          <a:cs typeface="Arial"/>
                        </a:rPr>
                        <a:t>32,400</a:t>
                      </a:r>
                    </a:p>
                  </a:txBody>
                  <a:tcPr marL="91440" marR="91440" marT="45720" marB="45720">
                    <a:solidFill>
                      <a:srgbClr val="F0F6FA"/>
                    </a:solidFill>
                  </a:tcPr>
                </a:tc>
                <a:tc>
                  <a:txBody>
                    <a:bodyPr/>
                    <a:lstStyle/>
                    <a:p>
                      <a:r>
                        <a:rPr sz="1350" b="0">
                          <a:solidFill>
                            <a:srgbClr val="627D90"/>
                          </a:solidFill>
                          <a:latin typeface="Arial"/>
                          <a:ea typeface="Arial"/>
                          <a:cs typeface="Arial"/>
                        </a:rPr>
                        <a:t>108,000</a:t>
                      </a:r>
                    </a:p>
                  </a:txBody>
                  <a:tcPr marL="91440" marR="91440" marT="45720" marB="45720">
                    <a:solidFill>
                      <a:srgbClr val="F0F6FA"/>
                    </a:solidFill>
                  </a:tcPr>
                </a:tc>
              </a:tr>
              <a:tr h="387350">
                <a:tc>
                  <a:txBody>
                    <a:bodyPr/>
                    <a:lstStyle/>
                    <a:p>
                      <a:r>
                        <a:rPr sz="1350" b="0">
                          <a:solidFill>
                            <a:srgbClr val="627D90"/>
                          </a:solidFill>
                          <a:latin typeface="Arial"/>
                          <a:ea typeface="Arial"/>
                          <a:cs typeface="Arial"/>
                        </a:rPr>
                        <a:t>AI + hosting + support</a:t>
                      </a:r>
                    </a:p>
                  </a:txBody>
                  <a:tcPr marL="91440" marR="91440" marT="45720" marB="45720">
                    <a:solidFill>
                      <a:srgbClr val="FFFFFF"/>
                    </a:solidFill>
                  </a:tcPr>
                </a:tc>
                <a:tc>
                  <a:txBody>
                    <a:bodyPr/>
                    <a:lstStyle/>
                    <a:p>
                      <a:r>
                        <a:rPr sz="1350" b="0">
                          <a:solidFill>
                            <a:srgbClr val="627D90"/>
                          </a:solidFill>
                          <a:latin typeface="Arial"/>
                          <a:ea typeface="Arial"/>
                          <a:cs typeface="Arial"/>
                        </a:rPr>
                        <a:t>3,000</a:t>
                      </a:r>
                    </a:p>
                  </a:txBody>
                  <a:tcPr marL="91440" marR="91440" marT="45720" marB="45720">
                    <a:solidFill>
                      <a:srgbClr val="FFFFFF"/>
                    </a:solidFill>
                  </a:tcPr>
                </a:tc>
                <a:tc>
                  <a:txBody>
                    <a:bodyPr/>
                    <a:lstStyle/>
                    <a:p>
                      <a:r>
                        <a:rPr sz="1350" b="0">
                          <a:solidFill>
                            <a:srgbClr val="627D90"/>
                          </a:solidFill>
                          <a:latin typeface="Arial"/>
                          <a:ea typeface="Arial"/>
                          <a:cs typeface="Arial"/>
                        </a:rPr>
                        <a:t>15,600</a:t>
                      </a:r>
                    </a:p>
                  </a:txBody>
                  <a:tcPr marL="91440" marR="91440" marT="45720" marB="45720">
                    <a:solidFill>
                      <a:srgbClr val="FFFFFF"/>
                    </a:solidFill>
                  </a:tcPr>
                </a:tc>
                <a:tc>
                  <a:txBody>
                    <a:bodyPr/>
                    <a:lstStyle/>
                    <a:p>
                      <a:r>
                        <a:rPr sz="1350" b="0">
                          <a:solidFill>
                            <a:srgbClr val="627D90"/>
                          </a:solidFill>
                          <a:latin typeface="Arial"/>
                          <a:ea typeface="Arial"/>
                          <a:cs typeface="Arial"/>
                        </a:rPr>
                        <a:t>48,000</a:t>
                      </a:r>
                    </a:p>
                  </a:txBody>
                  <a:tcPr marL="91440" marR="91440" marT="45720" marB="45720">
                    <a:solidFill>
                      <a:srgbClr val="FFFFFF"/>
                    </a:solidFill>
                  </a:tcPr>
                </a:tc>
              </a:tr>
              <a:tr h="387350">
                <a:tc>
                  <a:txBody>
                    <a:bodyPr/>
                    <a:lstStyle/>
                    <a:p>
                      <a:r>
                        <a:rPr sz="1350" b="0">
                          <a:solidFill>
                            <a:srgbClr val="627D90"/>
                          </a:solidFill>
                          <a:latin typeface="Arial"/>
                          <a:ea typeface="Arial"/>
                          <a:cs typeface="Arial"/>
                        </a:rPr>
                        <a:t>Product team + sales + admin</a:t>
                      </a:r>
                    </a:p>
                  </a:txBody>
                  <a:tcPr marL="91440" marR="91440" marT="45720" marB="45720">
                    <a:solidFill>
                      <a:srgbClr val="F0F6FA"/>
                    </a:solidFill>
                  </a:tcPr>
                </a:tc>
                <a:tc>
                  <a:txBody>
                    <a:bodyPr/>
                    <a:lstStyle/>
                    <a:p>
                      <a:r>
                        <a:rPr sz="1350" b="0">
                          <a:solidFill>
                            <a:srgbClr val="627D90"/>
                          </a:solidFill>
                          <a:latin typeface="Arial"/>
                          <a:ea typeface="Arial"/>
                          <a:cs typeface="Arial"/>
                        </a:rPr>
                        <a:t>36,000</a:t>
                      </a:r>
                    </a:p>
                  </a:txBody>
                  <a:tcPr marL="91440" marR="91440" marT="45720" marB="45720">
                    <a:solidFill>
                      <a:srgbClr val="F0F6FA"/>
                    </a:solidFill>
                  </a:tcPr>
                </a:tc>
                <a:tc>
                  <a:txBody>
                    <a:bodyPr/>
                    <a:lstStyle/>
                    <a:p>
                      <a:r>
                        <a:rPr sz="1350" b="0">
                          <a:solidFill>
                            <a:srgbClr val="627D90"/>
                          </a:solidFill>
                          <a:latin typeface="Arial"/>
                          <a:ea typeface="Arial"/>
                          <a:cs typeface="Arial"/>
                        </a:rPr>
                        <a:t>54,000</a:t>
                      </a:r>
                    </a:p>
                  </a:txBody>
                  <a:tcPr marL="91440" marR="91440" marT="45720" marB="45720">
                    <a:solidFill>
                      <a:srgbClr val="F0F6FA"/>
                    </a:solidFill>
                  </a:tcPr>
                </a:tc>
                <a:tc>
                  <a:txBody>
                    <a:bodyPr/>
                    <a:lstStyle/>
                    <a:p>
                      <a:r>
                        <a:rPr sz="1350" b="0">
                          <a:solidFill>
                            <a:srgbClr val="627D90"/>
                          </a:solidFill>
                          <a:latin typeface="Arial"/>
                          <a:ea typeface="Arial"/>
                          <a:cs typeface="Arial"/>
                        </a:rPr>
                        <a:t>72,000</a:t>
                      </a:r>
                    </a:p>
                  </a:txBody>
                  <a:tcPr marL="91440" marR="91440" marT="45720" marB="45720">
                    <a:solidFill>
                      <a:srgbClr val="F0F6FA"/>
                    </a:solidFill>
                  </a:tcPr>
                </a:tc>
              </a:tr>
              <a:tr h="387350">
                <a:tc>
                  <a:txBody>
                    <a:bodyPr/>
                    <a:lstStyle/>
                    <a:p>
                      <a:r>
                        <a:rPr sz="1350" b="0">
                          <a:solidFill>
                            <a:srgbClr val="627D90"/>
                          </a:solidFill>
                          <a:latin typeface="Arial"/>
                          <a:ea typeface="Arial"/>
                          <a:cs typeface="Arial"/>
                        </a:rPr>
                        <a:t>Total operating cost</a:t>
                      </a:r>
                    </a:p>
                  </a:txBody>
                  <a:tcPr marL="91440" marR="91440" marT="45720" marB="45720">
                    <a:solidFill>
                      <a:srgbClr val="FFFFFF"/>
                    </a:solidFill>
                  </a:tcPr>
                </a:tc>
                <a:tc>
                  <a:txBody>
                    <a:bodyPr/>
                    <a:lstStyle/>
                    <a:p>
                      <a:r>
                        <a:rPr sz="1350" b="0">
                          <a:solidFill>
                            <a:srgbClr val="627D90"/>
                          </a:solidFill>
                          <a:latin typeface="Arial"/>
                          <a:ea typeface="Arial"/>
                          <a:cs typeface="Arial"/>
                        </a:rPr>
                        <a:t>39,000</a:t>
                      </a:r>
                    </a:p>
                  </a:txBody>
                  <a:tcPr marL="91440" marR="91440" marT="45720" marB="45720">
                    <a:solidFill>
                      <a:srgbClr val="FFFFFF"/>
                    </a:solidFill>
                  </a:tcPr>
                </a:tc>
                <a:tc>
                  <a:txBody>
                    <a:bodyPr/>
                    <a:lstStyle/>
                    <a:p>
                      <a:r>
                        <a:rPr sz="1350" b="0">
                          <a:solidFill>
                            <a:srgbClr val="627D90"/>
                          </a:solidFill>
                          <a:latin typeface="Arial"/>
                          <a:ea typeface="Arial"/>
                          <a:cs typeface="Arial"/>
                        </a:rPr>
                        <a:t>69,600</a:t>
                      </a:r>
                    </a:p>
                  </a:txBody>
                  <a:tcPr marL="91440" marR="91440" marT="45720" marB="45720">
                    <a:solidFill>
                      <a:srgbClr val="FFFFFF"/>
                    </a:solidFill>
                  </a:tcPr>
                </a:tc>
                <a:tc>
                  <a:txBody>
                    <a:bodyPr/>
                    <a:lstStyle/>
                    <a:p>
                      <a:r>
                        <a:rPr sz="1350" b="0">
                          <a:solidFill>
                            <a:srgbClr val="627D90"/>
                          </a:solidFill>
                          <a:latin typeface="Arial"/>
                          <a:ea typeface="Arial"/>
                          <a:cs typeface="Arial"/>
                        </a:rPr>
                        <a:t>120,000</a:t>
                      </a:r>
                    </a:p>
                  </a:txBody>
                  <a:tcPr marL="91440" marR="91440" marT="45720" marB="45720">
                    <a:solidFill>
                      <a:srgbClr val="FFFFFF"/>
                    </a:solidFill>
                  </a:tcPr>
                </a:tc>
              </a:tr>
              <a:tr h="387350">
                <a:tc>
                  <a:txBody>
                    <a:bodyPr/>
                    <a:lstStyle/>
                    <a:p>
                      <a:r>
                        <a:rPr sz="1350" b="0">
                          <a:solidFill>
                            <a:srgbClr val="627D90"/>
                          </a:solidFill>
                          <a:latin typeface="Arial"/>
                          <a:ea typeface="Arial"/>
                          <a:cs typeface="Arial"/>
                        </a:rPr>
                        <a:t>Operating result</a:t>
                      </a:r>
                    </a:p>
                  </a:txBody>
                  <a:tcPr marL="91440" marR="91440" marT="45720" marB="45720">
                    <a:solidFill>
                      <a:srgbClr val="F0F6FA"/>
                    </a:solidFill>
                  </a:tcPr>
                </a:tc>
                <a:tc>
                  <a:txBody>
                    <a:bodyPr/>
                    <a:lstStyle/>
                    <a:p>
                      <a:r>
                        <a:rPr sz="1350" b="0">
                          <a:solidFill>
                            <a:srgbClr val="627D90"/>
                          </a:solidFill>
                          <a:latin typeface="Arial"/>
                          <a:ea typeface="Arial"/>
                          <a:cs typeface="Arial"/>
                        </a:rPr>
                        <a:t>−33,600</a:t>
                      </a:r>
                    </a:p>
                  </a:txBody>
                  <a:tcPr marL="91440" marR="91440" marT="45720" marB="45720">
                    <a:solidFill>
                      <a:srgbClr val="F0F6FA"/>
                    </a:solidFill>
                  </a:tcPr>
                </a:tc>
                <a:tc>
                  <a:txBody>
                    <a:bodyPr/>
                    <a:lstStyle/>
                    <a:p>
                      <a:r>
                        <a:rPr sz="1350" b="0">
                          <a:solidFill>
                            <a:srgbClr val="627D90"/>
                          </a:solidFill>
                          <a:latin typeface="Arial"/>
                          <a:ea typeface="Arial"/>
                          <a:cs typeface="Arial"/>
                        </a:rPr>
                        <a:t>−37,200</a:t>
                      </a:r>
                    </a:p>
                  </a:txBody>
                  <a:tcPr marL="91440" marR="91440" marT="45720" marB="45720">
                    <a:solidFill>
                      <a:srgbClr val="F0F6FA"/>
                    </a:solidFill>
                  </a:tcPr>
                </a:tc>
                <a:tc>
                  <a:txBody>
                    <a:bodyPr/>
                    <a:lstStyle/>
                    <a:p>
                      <a:r>
                        <a:rPr sz="1350" b="0">
                          <a:solidFill>
                            <a:srgbClr val="627D90"/>
                          </a:solidFill>
                          <a:latin typeface="Arial"/>
                          <a:ea typeface="Arial"/>
                          <a:cs typeface="Arial"/>
                        </a:rPr>
                        <a:t>−12,000</a:t>
                      </a:r>
                    </a:p>
                  </a:txBody>
                  <a:tcPr marL="91440" marR="91440" marT="45720" marB="45720">
                    <a:solidFill>
                      <a:srgbClr val="F0F6FA"/>
                    </a:solidFill>
                  </a:tcPr>
                </a:tc>
              </a:tr>
            </a:tbl>
          </a:graphicData>
        </a:graphic>
      </p:graphicFrame>
      <p:sp>
        <p:nvSpPr>
          <p:cNvPr id="4" name="">
            <a:extLst xmlns:a="http://schemas.openxmlformats.org/drawingml/2006/main">
              <a:ext uri="{FF2B5EF4-FFF2-40B4-BE49-F238E27FC236}">
                <a16:creationId xmlns:a16="http://schemas.microsoft.com/office/drawing/2014/main" id="{0DCD7046-89E8-4622-A53F-0AFB7A9F832E}"/>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Assumptions: $1,080 per school per year; 30 seats; $0.02 per paper. Three-year operating funding gap: $82,800, before contingency.</a:t>
            </a:r>
          </a:p>
        </p:txBody>
      </p:sp>
      <p:sp>
        <p:nvSpPr>
          <p:cNvPr id="5" name="">
            <a:extLst xmlns:a="http://schemas.openxmlformats.org/drawingml/2006/main">
              <a:ext uri="{FF2B5EF4-FFF2-40B4-BE49-F238E27FC236}">
                <a16:creationId xmlns:a16="http://schemas.microsoft.com/office/drawing/2014/main" id="{BA3878D8-ED83-48A5-B399-814E2C7E1B75}"/>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14 / 18</a:t>
            </a:r>
          </a:p>
        </p:txBody>
      </p:sp>
    </p:spTree>
    <p:extLst>
      <p:ext uri="{BB962C8B-B14F-4D97-AF65-F5344CB8AC3E}">
        <p14:creationId xmlns:p14="http://schemas.microsoft.com/office/powerpoint/2010/main" val="1709452518"/>
      </p:ext>
    </p:extLst>
  </p:cSld>
</p:sld>
</file>

<file path=ppt/slides/slide15.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42EEE6-A3BD-4CBE-8BDD-956B6110F1AB}"/>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KEY METRICS AND DOWNSIDE SENSITIVITY</a:t>
            </a:r>
          </a:p>
        </p:txBody>
      </p:sp>
      <p:sp>
        <p:nvSpPr>
          <p:cNvPr id="2" name="">
            <a:extLst xmlns:a="http://schemas.openxmlformats.org/drawingml/2006/main">
              <a:ext uri="{FF2B5EF4-FFF2-40B4-BE49-F238E27FC236}">
                <a16:creationId xmlns:a16="http://schemas.microsoft.com/office/drawing/2014/main" id="{5BCE0F03-8683-4CAB-BE9F-EB8AA99252FF}"/>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Value, accuracy and retention decide expansion</a:t>
            </a:r>
          </a:p>
        </p:txBody>
      </p:sp>
      <p:sp>
        <p:nvSpPr>
          <p:cNvPr id="3" name="">
            <a:extLst xmlns:a="http://schemas.openxmlformats.org/drawingml/2006/main">
              <a:ext uri="{FF2B5EF4-FFF2-40B4-BE49-F238E27FC236}">
                <a16:creationId xmlns:a16="http://schemas.microsoft.com/office/drawing/2014/main" id="{4FF6007A-9B3C-413A-BA88-D489AE44B591}"/>
              </a:ext>
            </a:extLst>
          </p:cNvPr>
          <p:cNvSpPr>
            <a:spLocks xmlns:a="http://schemas.openxmlformats.org/drawingml/2006/main" noGrp="1"/>
          </p:cNvSpPr>
          <p:nvPr/>
        </p:nvSpPr>
        <p:spPr>
          <a:xfrm xmlns:a="http://schemas.openxmlformats.org/drawingml/2006/main">
            <a:off x="6096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Pilot release gates</a:t>
            </a:r>
          </a:p>
        </p:txBody>
      </p:sp>
      <p:sp>
        <p:nvSpPr>
          <p:cNvPr id="4" name="">
            <a:extLst xmlns:a="http://schemas.openxmlformats.org/drawingml/2006/main">
              <a:ext uri="{FF2B5EF4-FFF2-40B4-BE49-F238E27FC236}">
                <a16:creationId xmlns:a16="http://schemas.microsoft.com/office/drawing/2014/main" id="{1DC2A73B-43A5-404F-BEFC-9E2686D2266F}"/>
              </a:ext>
            </a:extLst>
          </p:cNvPr>
          <p:cNvSpPr>
            <a:spLocks xmlns:a="http://schemas.openxmlformats.org/drawingml/2006/main" noGrp="1"/>
          </p:cNvSpPr>
          <p:nvPr/>
        </p:nvSpPr>
        <p:spPr>
          <a:xfrm xmlns:a="http://schemas.openxmlformats.org/drawingml/2006/main">
            <a:off x="6096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Median teacher review time at least 50% lower, including setup. At least 95% of scores within one point of an adjudicated 20-point rubric. Zero unapproved grade transfers.</a:t>
            </a:r>
          </a:p>
        </p:txBody>
      </p:sp>
      <p:sp>
        <p:nvSpPr>
          <p:cNvPr id="5" name="">
            <a:extLst xmlns:a="http://schemas.openxmlformats.org/drawingml/2006/main">
              <a:ext uri="{FF2B5EF4-FFF2-40B4-BE49-F238E27FC236}">
                <a16:creationId xmlns:a16="http://schemas.microsoft.com/office/drawing/2014/main" id="{EB41527D-4610-48C0-8AFE-5B966EBF9301}"/>
              </a:ext>
            </a:extLst>
          </p:cNvPr>
          <p:cNvSpPr>
            <a:spLocks xmlns:a="http://schemas.openxmlformats.org/drawingml/2006/main" noGrp="1"/>
          </p:cNvSpPr>
          <p:nvPr/>
        </p:nvSpPr>
        <p:spPr>
          <a:xfrm xmlns:a="http://schemas.openxmlformats.org/drawingml/2006/main">
            <a:off x="432435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Adoption targets</a:t>
            </a:r>
          </a:p>
        </p:txBody>
      </p:sp>
      <p:sp>
        <p:nvSpPr>
          <p:cNvPr id="6" name="">
            <a:extLst xmlns:a="http://schemas.openxmlformats.org/drawingml/2006/main">
              <a:ext uri="{FF2B5EF4-FFF2-40B4-BE49-F238E27FC236}">
                <a16:creationId xmlns:a16="http://schemas.microsoft.com/office/drawing/2014/main" id="{17783DBD-A48D-421C-9203-7BA21587A4D9}"/>
              </a:ext>
            </a:extLst>
          </p:cNvPr>
          <p:cNvSpPr>
            <a:spLocks xmlns:a="http://schemas.openxmlformats.org/drawingml/2006/main" noGrp="1"/>
          </p:cNvSpPr>
          <p:nvPr/>
        </p:nvSpPr>
        <p:spPr>
          <a:xfrm xmlns:a="http://schemas.openxmlformats.org/drawingml/2006/main">
            <a:off x="432435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70% monthly active paid teachers. 80% annual school retention. Audit corrections by language and handwriting quality. Aim for fully loaded school CAC below $600.</a:t>
            </a:r>
          </a:p>
        </p:txBody>
      </p:sp>
      <p:sp>
        <p:nvSpPr>
          <p:cNvPr id="7" name="">
            <a:extLst xmlns:a="http://schemas.openxmlformats.org/drawingml/2006/main">
              <a:ext uri="{FF2B5EF4-FFF2-40B4-BE49-F238E27FC236}">
                <a16:creationId xmlns:a16="http://schemas.microsoft.com/office/drawing/2014/main" id="{4BD7940C-17D7-4645-ABB4-9D8C8CC52075}"/>
              </a:ext>
            </a:extLst>
          </p:cNvPr>
          <p:cNvSpPr>
            <a:spLocks xmlns:a="http://schemas.openxmlformats.org/drawingml/2006/main" noGrp="1"/>
          </p:cNvSpPr>
          <p:nvPr/>
        </p:nvSpPr>
        <p:spPr>
          <a:xfrm xmlns:a="http://schemas.openxmlformats.org/drawingml/2006/main">
            <a:off x="8039100" y="20574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Cost sensitivity</a:t>
            </a:r>
          </a:p>
        </p:txBody>
      </p:sp>
      <p:sp>
        <p:nvSpPr>
          <p:cNvPr id="8" name="">
            <a:extLst xmlns:a="http://schemas.openxmlformats.org/drawingml/2006/main">
              <a:ext uri="{FF2B5EF4-FFF2-40B4-BE49-F238E27FC236}">
                <a16:creationId xmlns:a16="http://schemas.microsoft.com/office/drawing/2014/main" id="{1AEEB98C-BA27-41EE-BFD7-19453688B7FA}"/>
              </a:ext>
            </a:extLst>
          </p:cNvPr>
          <p:cNvSpPr>
            <a:spLocks xmlns:a="http://schemas.openxmlformats.org/drawingml/2006/main" noGrp="1"/>
          </p:cNvSpPr>
          <p:nvPr/>
        </p:nvSpPr>
        <p:spPr>
          <a:xfrm xmlns:a="http://schemas.openxmlformats.org/drawingml/2006/main">
            <a:off x="8039100" y="284797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At $0.04 per paper, Year 3 cost rises by $36,000 and loss reaches $48,000. Reprice limits or reduce cost before expanding. Lower retention also worsens the model.</a:t>
            </a:r>
          </a:p>
        </p:txBody>
      </p:sp>
      <p:sp>
        <p:nvSpPr>
          <p:cNvPr id="9" name="">
            <a:extLst xmlns:a="http://schemas.openxmlformats.org/drawingml/2006/main">
              <a:ext uri="{FF2B5EF4-FFF2-40B4-BE49-F238E27FC236}">
                <a16:creationId xmlns:a16="http://schemas.microsoft.com/office/drawing/2014/main" id="{CA4A5F0C-BBFE-46F3-8480-D509EB882CA4}"/>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All thresholds are proposed pilot targets. Teacher time and scoring agreement require measurement, including uncertainty and subgroup error rates.</a:t>
            </a:r>
          </a:p>
        </p:txBody>
      </p:sp>
      <p:sp>
        <p:nvSpPr>
          <p:cNvPr id="10" name="">
            <a:extLst xmlns:a="http://schemas.openxmlformats.org/drawingml/2006/main">
              <a:ext uri="{FF2B5EF4-FFF2-40B4-BE49-F238E27FC236}">
                <a16:creationId xmlns:a16="http://schemas.microsoft.com/office/drawing/2014/main" id="{79F79226-6337-4A97-9691-CE50494431AE}"/>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15 / 18</a:t>
            </a:r>
          </a:p>
        </p:txBody>
      </p:sp>
    </p:spTree>
    <p:extLst>
      <p:ext uri="{BB962C8B-B14F-4D97-AF65-F5344CB8AC3E}">
        <p14:creationId xmlns:p14="http://schemas.microsoft.com/office/powerpoint/2010/main" val="2016154388"/>
      </p:ext>
    </p:extLst>
  </p:cSld>
</p:sld>
</file>

<file path=ppt/slides/slide16.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4108F-3909-4B2B-9AAF-7BEA6A7E0E5B}"/>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RISKS AND PRACTICAL RESPONSES</a:t>
            </a:r>
          </a:p>
        </p:txBody>
      </p:sp>
      <p:sp>
        <p:nvSpPr>
          <p:cNvPr id="2" name="">
            <a:extLst xmlns:a="http://schemas.openxmlformats.org/drawingml/2006/main">
              <a:ext uri="{FF2B5EF4-FFF2-40B4-BE49-F238E27FC236}">
                <a16:creationId xmlns:a16="http://schemas.microsoft.com/office/drawing/2014/main" id="{698CC5BB-049F-43F7-B1B5-5AD6BD2C53B3}"/>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Trust must survive the difficult cases</a:t>
            </a:r>
          </a:p>
        </p:txBody>
      </p:sp>
      <p:graphicFrame>
        <p:nvGraphicFramePr>
          <p:cNvPr id="8" name=""/>
          <p:cNvGraphicFramePr/>
          <p:nvPr/>
        </p:nvGraphicFramePr>
        <p:xfrm>
          <a:off xmlns:a="http://schemas.openxmlformats.org/drawingml/2006/main" x="609600" y="2047875"/>
          <a:ext xmlns:a="http://schemas.openxmlformats.org/drawingml/2006/main" cx="10877550" cy="3619500"/>
        </p:xfrm>
        <a:graphic xmlns:a="http://schemas.openxmlformats.org/drawingml/2006/main">
          <a:graphicData uri="http://schemas.openxmlformats.org/drawingml/2006/table">
            <a:tbl>
              <a:tblPr/>
              <a:tblGrid>
                <a:gridCol w="2762250"/>
                <a:gridCol w="8115300"/>
              </a:tblGrid>
              <a:tr h="517071">
                <a:tc>
                  <a:txBody>
                    <a:bodyPr/>
                    <a:lstStyle/>
                    <a:p>
                      <a:r>
                        <a:rPr sz="1425" b="1">
                          <a:solidFill>
                            <a:srgbClr val="356482"/>
                          </a:solidFill>
                          <a:latin typeface="Arial"/>
                          <a:ea typeface="Arial"/>
                          <a:cs typeface="Arial"/>
                        </a:rPr>
                        <a:t>Risk</a:t>
                      </a:r>
                    </a:p>
                  </a:txBody>
                  <a:tcPr marL="91440" marR="91440" marT="45720" marB="45720">
                    <a:solidFill>
                      <a:srgbClr val="DDEEF9"/>
                    </a:solidFill>
                  </a:tcPr>
                </a:tc>
                <a:tc>
                  <a:txBody>
                    <a:bodyPr/>
                    <a:lstStyle/>
                    <a:p>
                      <a:r>
                        <a:rPr sz="1425" b="1">
                          <a:solidFill>
                            <a:srgbClr val="356482"/>
                          </a:solidFill>
                          <a:latin typeface="Arial"/>
                          <a:ea typeface="Arial"/>
                          <a:cs typeface="Arial"/>
                        </a:rPr>
                        <a:t>Mitigation before production</a:t>
                      </a:r>
                    </a:p>
                  </a:txBody>
                  <a:tcPr marL="91440" marR="91440" marT="45720" marB="45720">
                    <a:solidFill>
                      <a:srgbClr val="DDEEF9"/>
                    </a:solidFill>
                  </a:tcPr>
                </a:tc>
              </a:tr>
              <a:tr h="517071">
                <a:tc>
                  <a:txBody>
                    <a:bodyPr/>
                    <a:lstStyle/>
                    <a:p>
                      <a:r>
                        <a:rPr sz="1425" b="0">
                          <a:solidFill>
                            <a:srgbClr val="627D90"/>
                          </a:solidFill>
                          <a:latin typeface="Arial"/>
                          <a:ea typeface="Arial"/>
                          <a:cs typeface="Arial"/>
                        </a:rPr>
                        <a:t>Wrong or biased grading</a:t>
                      </a:r>
                    </a:p>
                  </a:txBody>
                  <a:tcPr marL="91440" marR="91440" marT="45720" marB="45720">
                    <a:solidFill>
                      <a:srgbClr val="FFFFFF"/>
                    </a:solidFill>
                  </a:tcPr>
                </a:tc>
                <a:tc>
                  <a:txBody>
                    <a:bodyPr/>
                    <a:lstStyle/>
                    <a:p>
                      <a:r>
                        <a:rPr sz="1425" b="0">
                          <a:solidFill>
                            <a:srgbClr val="627D90"/>
                          </a:solidFill>
                          <a:latin typeface="Arial"/>
                          <a:ea typeface="Arial"/>
                          <a:cs typeface="Arial"/>
                        </a:rPr>
                        <a:t>Adjudicated test set, visible evidence, teacher overrides, subgroup audits and confidence abstention</a:t>
                      </a:r>
                    </a:p>
                  </a:txBody>
                  <a:tcPr marL="91440" marR="91440" marT="45720" marB="45720">
                    <a:solidFill>
                      <a:srgbClr val="FFFFFF"/>
                    </a:solidFill>
                  </a:tcPr>
                </a:tc>
              </a:tr>
              <a:tr h="517071">
                <a:tc>
                  <a:txBody>
                    <a:bodyPr/>
                    <a:lstStyle/>
                    <a:p>
                      <a:r>
                        <a:rPr sz="1425" b="0">
                          <a:solidFill>
                            <a:srgbClr val="627D90"/>
                          </a:solidFill>
                          <a:latin typeface="Arial"/>
                          <a:ea typeface="Arial"/>
                          <a:cs typeface="Arial"/>
                        </a:rPr>
                        <a:t>Student data exposure</a:t>
                      </a:r>
                    </a:p>
                  </a:txBody>
                  <a:tcPr marL="91440" marR="91440" marT="45720" marB="45720">
                    <a:solidFill>
                      <a:srgbClr val="F0F6FA"/>
                    </a:solidFill>
                  </a:tcPr>
                </a:tc>
                <a:tc>
                  <a:txBody>
                    <a:bodyPr/>
                    <a:lstStyle/>
                    <a:p>
                      <a:r>
                        <a:rPr sz="1425" b="0">
                          <a:solidFill>
                            <a:srgbClr val="627D90"/>
                          </a:solidFill>
                          <a:latin typeface="Arial"/>
                          <a:ea typeface="Arial"/>
                          <a:cs typeface="Arial"/>
                        </a:rPr>
                        <a:t>Minimize identity, school-approved storage, restricted access, audit logs, deletion schedule and legal review</a:t>
                      </a:r>
                    </a:p>
                  </a:txBody>
                  <a:tcPr marL="91440" marR="91440" marT="45720" marB="45720">
                    <a:solidFill>
                      <a:srgbClr val="F0F6FA"/>
                    </a:solidFill>
                  </a:tcPr>
                </a:tc>
              </a:tr>
              <a:tr h="517071">
                <a:tc>
                  <a:txBody>
                    <a:bodyPr/>
                    <a:lstStyle/>
                    <a:p>
                      <a:r>
                        <a:rPr sz="1425" b="0">
                          <a:solidFill>
                            <a:srgbClr val="627D90"/>
                          </a:solidFill>
                          <a:latin typeface="Arial"/>
                          <a:ea typeface="Arial"/>
                          <a:cs typeface="Arial"/>
                        </a:rPr>
                        <a:t>Teacher resistance</a:t>
                      </a:r>
                    </a:p>
                  </a:txBody>
                  <a:tcPr marL="91440" marR="91440" marT="45720" marB="45720">
                    <a:solidFill>
                      <a:srgbClr val="FFFFFF"/>
                    </a:solidFill>
                  </a:tcPr>
                </a:tc>
                <a:tc>
                  <a:txBody>
                    <a:bodyPr/>
                    <a:lstStyle/>
                    <a:p>
                      <a:r>
                        <a:rPr sz="1425" b="0">
                          <a:solidFill>
                            <a:srgbClr val="627D90"/>
                          </a:solidFill>
                          <a:latin typeface="Arial"/>
                          <a:ea typeface="Arial"/>
                          <a:cs typeface="Arial"/>
                        </a:rPr>
                        <a:t>Co-design rubrics, demonstrate one assignment, keep manual controls, measure actual time saved</a:t>
                      </a:r>
                    </a:p>
                  </a:txBody>
                  <a:tcPr marL="91440" marR="91440" marT="45720" marB="45720">
                    <a:solidFill>
                      <a:srgbClr val="FFFFFF"/>
                    </a:solidFill>
                  </a:tcPr>
                </a:tc>
              </a:tr>
              <a:tr h="517071">
                <a:tc>
                  <a:txBody>
                    <a:bodyPr/>
                    <a:lstStyle/>
                    <a:p>
                      <a:r>
                        <a:rPr sz="1425" b="0">
                          <a:solidFill>
                            <a:srgbClr val="627D90"/>
                          </a:solidFill>
                          <a:latin typeface="Arial"/>
                          <a:ea typeface="Arial"/>
                          <a:cs typeface="Arial"/>
                        </a:rPr>
                        <a:t>Poor handwriting or internet</a:t>
                      </a:r>
                    </a:p>
                  </a:txBody>
                  <a:tcPr marL="91440" marR="91440" marT="45720" marB="45720">
                    <a:solidFill>
                      <a:srgbClr val="F0F6FA"/>
                    </a:solidFill>
                  </a:tcPr>
                </a:tc>
                <a:tc>
                  <a:txBody>
                    <a:bodyPr/>
                    <a:lstStyle/>
                    <a:p>
                      <a:r>
                        <a:rPr sz="1425" b="0">
                          <a:solidFill>
                            <a:srgbClr val="627D90"/>
                          </a:solidFill>
                          <a:latin typeface="Arial"/>
                          <a:ea typeface="Arial"/>
                          <a:cs typeface="Arial"/>
                        </a:rPr>
                        <a:t>Mark unreadable work for manual grading; resumable uploads and local drafts</a:t>
                      </a:r>
                    </a:p>
                  </a:txBody>
                  <a:tcPr marL="91440" marR="91440" marT="45720" marB="45720">
                    <a:solidFill>
                      <a:srgbClr val="F0F6FA"/>
                    </a:solidFill>
                  </a:tcPr>
                </a:tc>
              </a:tr>
              <a:tr h="517071">
                <a:tc>
                  <a:txBody>
                    <a:bodyPr/>
                    <a:lstStyle/>
                    <a:p>
                      <a:r>
                        <a:rPr sz="1425" b="0">
                          <a:solidFill>
                            <a:srgbClr val="627D90"/>
                          </a:solidFill>
                          <a:latin typeface="Arial"/>
                          <a:ea typeface="Arial"/>
                          <a:cs typeface="Arial"/>
                        </a:rPr>
                        <a:t>Cost or slow procurement</a:t>
                      </a:r>
                    </a:p>
                  </a:txBody>
                  <a:tcPr marL="91440" marR="91440" marT="45720" marB="45720">
                    <a:solidFill>
                      <a:srgbClr val="FFFFFF"/>
                    </a:solidFill>
                  </a:tcPr>
                </a:tc>
                <a:tc>
                  <a:txBody>
                    <a:bodyPr/>
                    <a:lstStyle/>
                    <a:p>
                      <a:r>
                        <a:rPr sz="1425" b="0">
                          <a:solidFill>
                            <a:srgbClr val="627D90"/>
                          </a:solidFill>
                          <a:latin typeface="Arial"/>
                          <a:ea typeface="Arial"/>
                          <a:cs typeface="Arial"/>
                        </a:rPr>
                        <a:t>Meter usage, run small pilots, use annual caps and monitor inference cost per paper</a:t>
                      </a:r>
                    </a:p>
                  </a:txBody>
                  <a:tcPr marL="91440" marR="91440" marT="45720" marB="45720">
                    <a:solidFill>
                      <a:srgbClr val="FFFFFF"/>
                    </a:solidFill>
                  </a:tcPr>
                </a:tc>
              </a:tr>
              <a:tr h="517071">
                <a:tc>
                  <a:txBody>
                    <a:bodyPr/>
                    <a:lstStyle/>
                    <a:p>
                      <a:r>
                        <a:rPr sz="1425" b="0">
                          <a:solidFill>
                            <a:srgbClr val="627D90"/>
                          </a:solidFill>
                          <a:latin typeface="Arial"/>
                          <a:ea typeface="Arial"/>
                          <a:cs typeface="Arial"/>
                        </a:rPr>
                        <a:t>School integration failure</a:t>
                      </a:r>
                    </a:p>
                  </a:txBody>
                  <a:tcPr marL="91440" marR="91440" marT="45720" marB="45720">
                    <a:solidFill>
                      <a:srgbClr val="F0F6FA"/>
                    </a:solidFill>
                  </a:tcPr>
                </a:tc>
                <a:tc>
                  <a:txBody>
                    <a:bodyPr/>
                    <a:lstStyle/>
                    <a:p>
                      <a:r>
                        <a:rPr sz="1425" b="0">
                          <a:solidFill>
                            <a:srgbClr val="627D90"/>
                          </a:solidFill>
                          <a:latin typeface="Arial"/>
                          <a:ea typeface="Arial"/>
                          <a:cs typeface="Arial"/>
                        </a:rPr>
                        <a:t>Export approved grades first; partner-approved API only after testing and explicit school authorization</a:t>
                      </a:r>
                    </a:p>
                  </a:txBody>
                  <a:tcPr marL="91440" marR="91440" marT="45720" marB="45720">
                    <a:solidFill>
                      <a:srgbClr val="F0F6FA"/>
                    </a:solidFill>
                  </a:tcPr>
                </a:tc>
              </a:tr>
            </a:tbl>
          </a:graphicData>
        </a:graphic>
      </p:graphicFrame>
      <p:sp>
        <p:nvSpPr>
          <p:cNvPr id="4" name="">
            <a:extLst xmlns:a="http://schemas.openxmlformats.org/drawingml/2006/main">
              <a:ext uri="{FF2B5EF4-FFF2-40B4-BE49-F238E27FC236}">
                <a16:creationId xmlns:a16="http://schemas.microsoft.com/office/drawing/2014/main" id="{1C985E15-F046-48A4-942B-D4F75227A6A8}"/>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These are production requirements and proposed controls. The demo itself uses sample data and local browser persistence.</a:t>
            </a:r>
          </a:p>
        </p:txBody>
      </p:sp>
      <p:sp>
        <p:nvSpPr>
          <p:cNvPr id="5" name="">
            <a:extLst xmlns:a="http://schemas.openxmlformats.org/drawingml/2006/main">
              <a:ext uri="{FF2B5EF4-FFF2-40B4-BE49-F238E27FC236}">
                <a16:creationId xmlns:a16="http://schemas.microsoft.com/office/drawing/2014/main" id="{5D2AC10F-EFE8-431A-A431-C1D3199A3588}"/>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16 / 18</a:t>
            </a:r>
          </a:p>
        </p:txBody>
      </p:sp>
    </p:spTree>
    <p:extLst>
      <p:ext uri="{BB962C8B-B14F-4D97-AF65-F5344CB8AC3E}">
        <p14:creationId xmlns:p14="http://schemas.microsoft.com/office/powerpoint/2010/main" val="265696097"/>
      </p:ext>
    </p:extLst>
  </p:cSld>
</p:sld>
</file>

<file path=ppt/slides/slide17.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0BB678-2F09-49C9-9ABB-4C2A029A3E27}"/>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THE PILOT ASK AND LONG-TERM OPPORTUNITY</a:t>
            </a:r>
          </a:p>
        </p:txBody>
      </p:sp>
      <p:sp>
        <p:nvSpPr>
          <p:cNvPr id="2" name="">
            <a:extLst xmlns:a="http://schemas.openxmlformats.org/drawingml/2006/main">
              <a:ext uri="{FF2B5EF4-FFF2-40B4-BE49-F238E27FC236}">
                <a16:creationId xmlns:a16="http://schemas.microsoft.com/office/drawing/2014/main" id="{AFB815FE-533D-4B74-8663-4FD70CB534B0}"/>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The next milestone is evidence</a:t>
            </a:r>
          </a:p>
        </p:txBody>
      </p:sp>
      <p:sp>
        <p:nvSpPr>
          <p:cNvPr id="3" name="">
            <a:extLst xmlns:a="http://schemas.openxmlformats.org/drawingml/2006/main">
              <a:ext uri="{FF2B5EF4-FFF2-40B4-BE49-F238E27FC236}">
                <a16:creationId xmlns:a16="http://schemas.microsoft.com/office/drawing/2014/main" id="{60616F29-E3A9-4FD3-B720-8A6E4CA6CB44}"/>
              </a:ext>
            </a:extLst>
          </p:cNvPr>
          <p:cNvSpPr>
            <a:spLocks xmlns:a="http://schemas.openxmlformats.org/drawingml/2006/main" noGrp="1"/>
          </p:cNvSpPr>
          <p:nvPr/>
        </p:nvSpPr>
        <p:spPr>
          <a:xfrm xmlns:a="http://schemas.openxmlformats.org/drawingml/2006/main">
            <a:off x="609600" y="20574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B7C92"/>
                </a:solidFill>
                <a:latin typeface="Arial"/>
                <a:ea typeface="Arial"/>
                <a:cs typeface="Arial"/>
              </a:defRPr>
            </a:pPr>
            <a:r>
              <a:rPr sz="1875" b="0">
                <a:solidFill>
                  <a:srgbClr val="5B7C92"/>
                </a:solidFill>
                <a:latin typeface="Arial"/>
                <a:ea typeface="Arial"/>
                <a:cs typeface="Arial"/>
              </a:rPr>
              <a:t>Recruit three pilot schools and 30 mathematics teachers for a six-week evaluation after the secure MVP is ready.</a:t>
            </a:r>
          </a:p>
        </p:txBody>
      </p:sp>
      <p:sp>
        <p:nvSpPr>
          <p:cNvPr id="4" name="">
            <a:extLst xmlns:a="http://schemas.openxmlformats.org/drawingml/2006/main">
              <a:ext uri="{FF2B5EF4-FFF2-40B4-BE49-F238E27FC236}">
                <a16:creationId xmlns:a16="http://schemas.microsoft.com/office/drawing/2014/main" id="{14734E92-4995-443D-A13F-B21F33D1951C}"/>
              </a:ext>
            </a:extLst>
          </p:cNvPr>
          <p:cNvSpPr>
            <a:spLocks xmlns:a="http://schemas.openxmlformats.org/drawingml/2006/main" noGrp="1"/>
          </p:cNvSpPr>
          <p:nvPr/>
        </p:nvSpPr>
        <p:spPr>
          <a:xfrm xmlns:a="http://schemas.openxmlformats.org/drawingml/2006/main">
            <a:off x="609600" y="31051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What we will measure</a:t>
            </a:r>
          </a:p>
        </p:txBody>
      </p:sp>
      <p:sp>
        <p:nvSpPr>
          <p:cNvPr id="5" name="">
            <a:extLst xmlns:a="http://schemas.openxmlformats.org/drawingml/2006/main">
              <a:ext uri="{FF2B5EF4-FFF2-40B4-BE49-F238E27FC236}">
                <a16:creationId xmlns:a16="http://schemas.microsoft.com/office/drawing/2014/main" id="{A3FFD06B-EB30-4844-AC61-C425D4FB0C32}"/>
              </a:ext>
            </a:extLst>
          </p:cNvPr>
          <p:cNvSpPr>
            <a:spLocks xmlns:a="http://schemas.openxmlformats.org/drawingml/2006/main" noGrp="1"/>
          </p:cNvSpPr>
          <p:nvPr/>
        </p:nvSpPr>
        <p:spPr>
          <a:xfrm xmlns:a="http://schemas.openxmlformats.org/drawingml/2006/main">
            <a:off x="609600" y="389572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Time saved per assignment, rubric agreement, correction rate and continued teacher use.</a:t>
            </a:r>
          </a:p>
        </p:txBody>
      </p:sp>
      <p:sp>
        <p:nvSpPr>
          <p:cNvPr id="6" name="">
            <a:extLst xmlns:a="http://schemas.openxmlformats.org/drawingml/2006/main">
              <a:ext uri="{FF2B5EF4-FFF2-40B4-BE49-F238E27FC236}">
                <a16:creationId xmlns:a16="http://schemas.microsoft.com/office/drawing/2014/main" id="{0CC5F04C-0CE7-4248-8ACF-B2C3E2166FC6}"/>
              </a:ext>
            </a:extLst>
          </p:cNvPr>
          <p:cNvSpPr>
            <a:spLocks xmlns:a="http://schemas.openxmlformats.org/drawingml/2006/main" noGrp="1"/>
          </p:cNvSpPr>
          <p:nvPr/>
        </p:nvSpPr>
        <p:spPr>
          <a:xfrm xmlns:a="http://schemas.openxmlformats.org/drawingml/2006/main">
            <a:off x="4324350" y="31051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What we need</a:t>
            </a:r>
          </a:p>
        </p:txBody>
      </p:sp>
      <p:sp>
        <p:nvSpPr>
          <p:cNvPr id="7" name="">
            <a:extLst xmlns:a="http://schemas.openxmlformats.org/drawingml/2006/main">
              <a:ext uri="{FF2B5EF4-FFF2-40B4-BE49-F238E27FC236}">
                <a16:creationId xmlns:a16="http://schemas.microsoft.com/office/drawing/2014/main" id="{91C31CBA-DF7A-4BB1-8FFD-2023361DF6F8}"/>
              </a:ext>
            </a:extLst>
          </p:cNvPr>
          <p:cNvSpPr>
            <a:spLocks xmlns:a="http://schemas.openxmlformats.org/drawingml/2006/main" noGrp="1"/>
          </p:cNvSpPr>
          <p:nvPr/>
        </p:nvSpPr>
        <p:spPr>
          <a:xfrm xmlns:a="http://schemas.openxmlformats.org/drawingml/2006/main">
            <a:off x="4324350" y="389572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School champions, consented sample work, teaching advisers and funding for the evaluated MVP.</a:t>
            </a:r>
          </a:p>
        </p:txBody>
      </p:sp>
      <p:sp>
        <p:nvSpPr>
          <p:cNvPr id="8" name="">
            <a:extLst xmlns:a="http://schemas.openxmlformats.org/drawingml/2006/main">
              <a:ext uri="{FF2B5EF4-FFF2-40B4-BE49-F238E27FC236}">
                <a16:creationId xmlns:a16="http://schemas.microsoft.com/office/drawing/2014/main" id="{EDDF30A5-F76F-483E-96EA-DF0510F1B51C}"/>
              </a:ext>
            </a:extLst>
          </p:cNvPr>
          <p:cNvSpPr>
            <a:spLocks xmlns:a="http://schemas.openxmlformats.org/drawingml/2006/main" noGrp="1"/>
          </p:cNvSpPr>
          <p:nvPr/>
        </p:nvSpPr>
        <p:spPr>
          <a:xfrm xmlns:a="http://schemas.openxmlformats.org/drawingml/2006/main">
            <a:off x="8039100" y="31051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C80BB"/>
                </a:solidFill>
                <a:latin typeface="Arial"/>
                <a:ea typeface="Arial"/>
                <a:cs typeface="Arial"/>
              </a:defRPr>
            </a:pPr>
            <a:r>
              <a:rPr sz="1725" b="1">
                <a:solidFill>
                  <a:srgbClr val="2C80BB"/>
                </a:solidFill>
                <a:latin typeface="Arial"/>
                <a:ea typeface="Arial"/>
                <a:cs typeface="Arial"/>
              </a:rPr>
              <a:t>What comes next</a:t>
            </a:r>
          </a:p>
        </p:txBody>
      </p:sp>
      <p:sp>
        <p:nvSpPr>
          <p:cNvPr id="9" name="">
            <a:extLst xmlns:a="http://schemas.openxmlformats.org/drawingml/2006/main">
              <a:ext uri="{FF2B5EF4-FFF2-40B4-BE49-F238E27FC236}">
                <a16:creationId xmlns:a16="http://schemas.microsoft.com/office/drawing/2014/main" id="{5AB26F70-5968-4E4C-9697-B4E35AEA5053}"/>
              </a:ext>
            </a:extLst>
          </p:cNvPr>
          <p:cNvSpPr>
            <a:spLocks xmlns:a="http://schemas.openxmlformats.org/drawingml/2006/main" noGrp="1"/>
          </p:cNvSpPr>
          <p:nvPr/>
        </p:nvSpPr>
        <p:spPr>
          <a:xfrm xmlns:a="http://schemas.openxmlformats.org/drawingml/2006/main">
            <a:off x="8039100" y="3895725"/>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F94"/>
                </a:solidFill>
                <a:latin typeface="Arial"/>
                <a:ea typeface="Arial"/>
                <a:cs typeface="Arial"/>
              </a:defRPr>
            </a:pPr>
            <a:r>
              <a:rPr sz="1575" b="0">
                <a:solidFill>
                  <a:srgbClr val="617F94"/>
                </a:solidFill>
                <a:latin typeface="Arial"/>
                <a:ea typeface="Arial"/>
                <a:cs typeface="Arial"/>
              </a:rPr>
              <a:t>Expand only after a reliable local workflow earns trust. Add subjects and languages through separate evaluations.</a:t>
            </a:r>
          </a:p>
        </p:txBody>
      </p:sp>
      <p:sp>
        <p:nvSpPr>
          <p:cNvPr id="10" name="">
            <a:extLst xmlns:a="http://schemas.openxmlformats.org/drawingml/2006/main">
              <a:ext uri="{FF2B5EF4-FFF2-40B4-BE49-F238E27FC236}">
                <a16:creationId xmlns:a16="http://schemas.microsoft.com/office/drawing/2014/main" id="{053EF3B4-2C25-4393-9FFC-423FBE2341BA}"/>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Planning funding requirement: approximately $100,000 over three years including 20% contingency. Validate salaries, pricing and unit costs first.</a:t>
            </a:r>
          </a:p>
        </p:txBody>
      </p:sp>
      <p:sp>
        <p:nvSpPr>
          <p:cNvPr id="11" name="">
            <a:extLst xmlns:a="http://schemas.openxmlformats.org/drawingml/2006/main">
              <a:ext uri="{FF2B5EF4-FFF2-40B4-BE49-F238E27FC236}">
                <a16:creationId xmlns:a16="http://schemas.microsoft.com/office/drawing/2014/main" id="{8A29F89A-520F-4030-B0AB-F0908F57E172}"/>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17 / 18</a:t>
            </a:r>
          </a:p>
        </p:txBody>
      </p:sp>
    </p:spTree>
    <p:extLst>
      <p:ext uri="{BB962C8B-B14F-4D97-AF65-F5344CB8AC3E}">
        <p14:creationId xmlns:p14="http://schemas.microsoft.com/office/powerpoint/2010/main" val="589893119"/>
      </p:ext>
    </p:extLst>
  </p:cSld>
</p:sld>
</file>

<file path=ppt/slides/slide18.xml><?xml version="1.0" encoding="utf-8"?>
<p:sld xmlns:p="http://schemas.openxmlformats.org/presentationml/2006/main">
  <p:cSld>
    <p:bg>
      <p:bgPr>
        <a:solidFill xmlns:a="http://schemas.openxmlformats.org/drawingml/2006/main">
          <a:srgbClr val="F9FC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18B972-F947-4498-B65D-8AF04E0D29FB}"/>
              </a:ext>
            </a:extLst>
          </p:cNvPr>
          <p:cNvSpPr>
            <a:spLocks xmlns:a="http://schemas.openxmlformats.org/drawingml/2006/main" noGrp="1"/>
          </p:cNvSpPr>
          <p:nvPr/>
        </p:nvSpPr>
        <p:spPr>
          <a:xfrm xmlns:a="http://schemas.openxmlformats.org/drawingml/2006/main">
            <a:off x="609600" y="3619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859F"/>
                </a:solidFill>
                <a:latin typeface="Arial"/>
                <a:ea typeface="Arial"/>
                <a:cs typeface="Arial"/>
              </a:defRPr>
            </a:pPr>
            <a:r>
              <a:rPr sz="975" b="0">
                <a:solidFill>
                  <a:srgbClr val="62859F"/>
                </a:solidFill>
                <a:latin typeface="Arial"/>
                <a:ea typeface="Arial"/>
                <a:cs typeface="Arial"/>
              </a:rPr>
              <a:t>REFERENCE NOTES</a:t>
            </a:r>
          </a:p>
        </p:txBody>
      </p:sp>
      <p:sp>
        <p:nvSpPr>
          <p:cNvPr id="2" name="">
            <a:extLst xmlns:a="http://schemas.openxmlformats.org/drawingml/2006/main">
              <a:ext uri="{FF2B5EF4-FFF2-40B4-BE49-F238E27FC236}">
                <a16:creationId xmlns:a16="http://schemas.microsoft.com/office/drawing/2014/main" id="{43C714F4-234B-4518-BC68-26C0F764A6D7}"/>
              </a:ext>
            </a:extLst>
          </p:cNvPr>
          <p:cNvSpPr>
            <a:spLocks xmlns:a="http://schemas.openxmlformats.org/drawingml/2006/main" noGrp="1"/>
          </p:cNvSpPr>
          <p:nvPr/>
        </p:nvSpPr>
        <p:spPr>
          <a:xfrm xmlns:a="http://schemas.openxmlformats.org/drawingml/2006/main">
            <a:off x="609600" y="8286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B55"/>
                </a:solidFill>
                <a:latin typeface="Arial"/>
                <a:ea typeface="Arial"/>
                <a:cs typeface="Arial"/>
              </a:defRPr>
            </a:pPr>
            <a:r>
              <a:rPr sz="3300" b="1">
                <a:solidFill>
                  <a:srgbClr val="163B55"/>
                </a:solidFill>
                <a:latin typeface="Arial"/>
                <a:ea typeface="Arial"/>
                <a:cs typeface="Arial"/>
              </a:rPr>
              <a:t>Sources and submission guide</a:t>
            </a:r>
          </a:p>
        </p:txBody>
      </p:sp>
      <p:sp>
        <p:nvSpPr>
          <p:cNvPr id="3" name="">
            <a:extLst xmlns:a="http://schemas.openxmlformats.org/drawingml/2006/main">
              <a:ext uri="{FF2B5EF4-FFF2-40B4-BE49-F238E27FC236}">
                <a16:creationId xmlns:a16="http://schemas.microsoft.com/office/drawing/2014/main" id="{3AD62603-D42D-424D-9CA8-605086A4B9E4}"/>
              </a:ext>
            </a:extLst>
          </p:cNvPr>
          <p:cNvSpPr>
            <a:spLocks xmlns:a="http://schemas.openxmlformats.org/drawingml/2006/main" noGrp="1"/>
          </p:cNvSpPr>
          <p:nvPr/>
        </p:nvSpPr>
        <p:spPr>
          <a:xfrm xmlns:a="http://schemas.openxmlformats.org/drawingml/2006/main">
            <a:off x="609600" y="20478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B84C5EB-CA49-4755-B0EA-1B04EC511E37}"/>
              </a:ext>
            </a:extLst>
          </p:cNvPr>
          <p:cNvSpPr>
            <a:spLocks xmlns:a="http://schemas.openxmlformats.org/drawingml/2006/main" noGrp="1"/>
          </p:cNvSpPr>
          <p:nvPr/>
        </p:nvSpPr>
        <p:spPr>
          <a:xfrm xmlns:a="http://schemas.openxmlformats.org/drawingml/2006/main">
            <a:off x="1257300" y="202882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National Statistics Committee of Uzbekistan: General secondary education 2025/26, published 31 March 2026, pages 1–3.</a:t>
            </a:r>
          </a:p>
        </p:txBody>
      </p:sp>
      <p:sp>
        <p:nvSpPr>
          <p:cNvPr id="5" name="">
            <a:extLst xmlns:a="http://schemas.openxmlformats.org/drawingml/2006/main">
              <a:ext uri="{FF2B5EF4-FFF2-40B4-BE49-F238E27FC236}">
                <a16:creationId xmlns:a16="http://schemas.microsoft.com/office/drawing/2014/main" id="{75AC948F-5485-4BA4-B932-7210FC6C0015}"/>
              </a:ext>
            </a:extLst>
          </p:cNvPr>
          <p:cNvSpPr>
            <a:spLocks xmlns:a="http://schemas.openxmlformats.org/drawingml/2006/main" noGrp="1"/>
          </p:cNvSpPr>
          <p:nvPr/>
        </p:nvSpPr>
        <p:spPr>
          <a:xfrm xmlns:a="http://schemas.openxmlformats.org/drawingml/2006/main">
            <a:off x="609600" y="2762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F9488B1-7758-4586-8683-2B01C0C4A042}"/>
              </a:ext>
            </a:extLst>
          </p:cNvPr>
          <p:cNvSpPr>
            <a:spLocks xmlns:a="http://schemas.openxmlformats.org/drawingml/2006/main" noGrp="1"/>
          </p:cNvSpPr>
          <p:nvPr/>
        </p:nvSpPr>
        <p:spPr>
          <a:xfrm xmlns:a="http://schemas.openxmlformats.org/drawingml/2006/main">
            <a:off x="1257300" y="2743200"/>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Gradescope: official Get Started documentation, AI-Assisted Answer Groups.</a:t>
            </a:r>
          </a:p>
        </p:txBody>
      </p:sp>
      <p:sp>
        <p:nvSpPr>
          <p:cNvPr id="7" name="">
            <a:extLst xmlns:a="http://schemas.openxmlformats.org/drawingml/2006/main">
              <a:ext uri="{FF2B5EF4-FFF2-40B4-BE49-F238E27FC236}">
                <a16:creationId xmlns:a16="http://schemas.microsoft.com/office/drawing/2014/main" id="{AF42FD4C-3C76-422A-9C42-7543CE1BD339}"/>
              </a:ext>
            </a:extLst>
          </p:cNvPr>
          <p:cNvSpPr>
            <a:spLocks xmlns:a="http://schemas.openxmlformats.org/drawingml/2006/main" noGrp="1"/>
          </p:cNvSpPr>
          <p:nvPr/>
        </p:nvSpPr>
        <p:spPr>
          <a:xfrm xmlns:a="http://schemas.openxmlformats.org/drawingml/2006/main">
            <a:off x="609600" y="3476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08D29CBB-0194-430D-A5C5-2818A50388A3}"/>
              </a:ext>
            </a:extLst>
          </p:cNvPr>
          <p:cNvSpPr>
            <a:spLocks xmlns:a="http://schemas.openxmlformats.org/drawingml/2006/main" noGrp="1"/>
          </p:cNvSpPr>
          <p:nvPr/>
        </p:nvSpPr>
        <p:spPr>
          <a:xfrm xmlns:a="http://schemas.openxmlformats.org/drawingml/2006/main">
            <a:off x="1257300" y="345757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MagicSchool: official teacher tool catalog, rubric creation and writing feedback.</a:t>
            </a:r>
          </a:p>
        </p:txBody>
      </p:sp>
      <p:sp>
        <p:nvSpPr>
          <p:cNvPr id="9" name="">
            <a:extLst xmlns:a="http://schemas.openxmlformats.org/drawingml/2006/main">
              <a:ext uri="{FF2B5EF4-FFF2-40B4-BE49-F238E27FC236}">
                <a16:creationId xmlns:a16="http://schemas.microsoft.com/office/drawing/2014/main" id="{EA5C4D70-E535-4EFD-80F1-2A8519F10F39}"/>
              </a:ext>
            </a:extLst>
          </p:cNvPr>
          <p:cNvSpPr>
            <a:spLocks xmlns:a="http://schemas.openxmlformats.org/drawingml/2006/main" noGrp="1"/>
          </p:cNvSpPr>
          <p:nvPr/>
        </p:nvSpPr>
        <p:spPr>
          <a:xfrm xmlns:a="http://schemas.openxmlformats.org/drawingml/2006/main">
            <a:off x="609600" y="41910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2B8D2B7F-5B26-4F3F-832A-E4E44E2CAB2C}"/>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Source criteria: IT Case Competition, Case A, AICA &amp; AI Alliance, supplied by the user.</a:t>
            </a:r>
          </a:p>
        </p:txBody>
      </p:sp>
      <p:sp>
        <p:nvSpPr>
          <p:cNvPr id="11" name="">
            <a:extLst xmlns:a="http://schemas.openxmlformats.org/drawingml/2006/main">
              <a:ext uri="{FF2B5EF4-FFF2-40B4-BE49-F238E27FC236}">
                <a16:creationId xmlns:a16="http://schemas.microsoft.com/office/drawing/2014/main" id="{7F0F9496-DBFD-4944-8BD0-68BCA87607C5}"/>
              </a:ext>
            </a:extLst>
          </p:cNvPr>
          <p:cNvSpPr>
            <a:spLocks xmlns:a="http://schemas.openxmlformats.org/drawingml/2006/main" noGrp="1"/>
          </p:cNvSpPr>
          <p:nvPr/>
        </p:nvSpPr>
        <p:spPr>
          <a:xfrm xmlns:a="http://schemas.openxmlformats.org/drawingml/2006/main">
            <a:off x="609600" y="49053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8A3CB"/>
                </a:solidFill>
                <a:latin typeface="Arial"/>
                <a:ea typeface="Arial"/>
                <a:cs typeface="Arial"/>
              </a:defRPr>
            </a:pPr>
            <a:r>
              <a:rPr sz="1650" b="1">
                <a:solidFill>
                  <a:srgbClr val="68A3CB"/>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F8596529-392C-4859-B369-FCEAAABEBA26}"/>
              </a:ext>
            </a:extLst>
          </p:cNvPr>
          <p:cNvSpPr>
            <a:spLocks xmlns:a="http://schemas.openxmlformats.org/drawingml/2006/main" noGrp="1"/>
          </p:cNvSpPr>
          <p:nvPr/>
        </p:nvSpPr>
        <p:spPr>
          <a:xfrm xmlns:a="http://schemas.openxmlformats.org/drawingml/2006/main">
            <a:off x="1257300" y="488632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68F"/>
                </a:solidFill>
                <a:latin typeface="Arial"/>
                <a:ea typeface="Arial"/>
                <a:cs typeface="Arial"/>
              </a:defRPr>
            </a:pPr>
            <a:r>
              <a:rPr sz="1575" b="0">
                <a:solidFill>
                  <a:srgbClr val="54768F"/>
                </a:solidFill>
                <a:latin typeface="Arial"/>
                <a:ea typeface="Arial"/>
                <a:cs typeface="Arial"/>
              </a:rPr>
              <a:t>Demo: run npm install, then npm run dev. Open the local address and use Help or Grade new assignment.</a:t>
            </a:r>
          </a:p>
        </p:txBody>
      </p:sp>
      <p:sp>
        <p:nvSpPr>
          <p:cNvPr id="13" name="">
            <a:extLst xmlns:a="http://schemas.openxmlformats.org/drawingml/2006/main">
              <a:ext uri="{FF2B5EF4-FFF2-40B4-BE49-F238E27FC236}">
                <a16:creationId xmlns:a16="http://schemas.microsoft.com/office/drawing/2014/main" id="{2A65901C-5EFE-40E4-A9C8-50AC73EC32F0}"/>
              </a:ext>
            </a:extLst>
          </p:cNvPr>
          <p:cNvSpPr>
            <a:spLocks xmlns:a="http://schemas.openxmlformats.org/drawingml/2006/main" noGrp="1"/>
          </p:cNvSpPr>
          <p:nvPr/>
        </p:nvSpPr>
        <p:spPr>
          <a:xfrm xmlns:a="http://schemas.openxmlformats.org/drawingml/2006/main">
            <a:off x="609600" y="6057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B91A2"/>
                </a:solidFill>
                <a:latin typeface="Arial"/>
                <a:ea typeface="Arial"/>
                <a:cs typeface="Arial"/>
              </a:defRPr>
            </a:pPr>
            <a:r>
              <a:rPr sz="975" b="0">
                <a:solidFill>
                  <a:srgbClr val="7B91A2"/>
                </a:solidFill>
                <a:latin typeface="Arial"/>
                <a:ea typeface="Arial"/>
                <a:cs typeface="Arial"/>
              </a:rPr>
              <a:t>External sources checked 27 September 2026. All business numbers, savings, targets and pricing are illustrative assumptions; no real traction is claimed.</a:t>
            </a:r>
          </a:p>
        </p:txBody>
      </p:sp>
      <p:sp>
        <p:nvSpPr>
          <p:cNvPr id="14" name="">
            <a:extLst xmlns:a="http://schemas.openxmlformats.org/drawingml/2006/main">
              <a:ext uri="{FF2B5EF4-FFF2-40B4-BE49-F238E27FC236}">
                <a16:creationId xmlns:a16="http://schemas.microsoft.com/office/drawing/2014/main" id="{F611A1C9-8FC1-43EE-BB18-70636DEC6942}"/>
              </a:ext>
            </a:extLst>
          </p:cNvPr>
          <p:cNvSpPr>
            <a:spLocks xmlns:a="http://schemas.openxmlformats.org/drawingml/2006/main" noGrp="1"/>
          </p:cNvSpPr>
          <p:nvPr/>
        </p:nvSpPr>
        <p:spPr>
          <a:xfrm xmlns:a="http://schemas.openxmlformats.org/drawingml/2006/main">
            <a:off x="11334750" y="63246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91A6B6"/>
                </a:solidFill>
                <a:latin typeface="Arial"/>
                <a:ea typeface="Arial"/>
                <a:cs typeface="Arial"/>
              </a:defRPr>
            </a:pPr>
            <a:r>
              <a:rPr sz="825" b="0">
                <a:solidFill>
                  <a:srgbClr val="91A6B6"/>
                </a:solidFill>
                <a:latin typeface="Arial"/>
                <a:ea typeface="Arial"/>
                <a:cs typeface="Arial"/>
              </a:rPr>
              <a:t>18 / 18</a:t>
            </a:r>
          </a:p>
        </p:txBody>
      </p:sp>
    </p:spTree>
    <p:extLst>
      <p:ext uri="{BB962C8B-B14F-4D97-AF65-F5344CB8AC3E}">
        <p14:creationId xmlns:p14="http://schemas.microsoft.com/office/powerpoint/2010/main" val="675665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2026-09-27T12:38:18.1690000Z</dcterms:created>
  <dcterms:modified xsi:type="dcterms:W3CDTF">2026-09-27T12:38:18.1690000Z</dcterms:modified>
</coreProperties>
</file>